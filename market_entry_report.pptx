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914400" y="2377440"/>
            <a:ext cx="10332720" cy="1280160"/>
          </a:xfrm>
          <a:prstGeom prst="rect">
            <a:avLst/>
          </a:prstGeom>
          <a:noFill/>
        </p:spPr>
        <p:txBody>
          <a:bodyPr wrap="square">
            <a:spAutoFit/>
          </a:bodyPr>
          <a:lstStyle/>
          <a:p>
            <a:pPr algn="l"/>
            <a:r>
              <a:rPr sz="4400" b="1" i="0">
                <a:solidFill>
                  <a:srgbClr val="FFFFFF"/>
                </a:solidFill>
                <a:latin typeface="Cambria"/>
              </a:rPr>
              <a:t>Market Entry Strategy</a:t>
            </a:r>
          </a:p>
        </p:txBody>
      </p:sp>
      <p:sp>
        <p:nvSpPr>
          <p:cNvPr id="3" name="TextBox 2"/>
          <p:cNvSpPr txBox="1"/>
          <p:nvPr/>
        </p:nvSpPr>
        <p:spPr>
          <a:xfrm>
            <a:off x="914400" y="3200400"/>
            <a:ext cx="10332720" cy="731520"/>
          </a:xfrm>
          <a:prstGeom prst="rect">
            <a:avLst/>
          </a:prstGeom>
          <a:noFill/>
        </p:spPr>
        <p:txBody>
          <a:bodyPr wrap="square">
            <a:spAutoFit/>
          </a:bodyPr>
          <a:lstStyle/>
          <a:p>
            <a:pPr algn="l"/>
            <a:r>
              <a:rPr sz="2200" b="0" i="1">
                <a:solidFill>
                  <a:srgbClr val="CADCFC"/>
                </a:solidFill>
                <a:latin typeface="Calibri"/>
              </a:rPr>
              <a:t>Automotive — India</a:t>
            </a:r>
          </a:p>
        </p:txBody>
      </p:sp>
      <p:sp>
        <p:nvSpPr>
          <p:cNvPr id="4" name="TextBox 3"/>
          <p:cNvSpPr txBox="1"/>
          <p:nvPr/>
        </p:nvSpPr>
        <p:spPr>
          <a:xfrm>
            <a:off x="914400" y="6035040"/>
            <a:ext cx="10332720" cy="457200"/>
          </a:xfrm>
          <a:prstGeom prst="rect">
            <a:avLst/>
          </a:prstGeom>
          <a:noFill/>
        </p:spPr>
        <p:txBody>
          <a:bodyPr wrap="square">
            <a:spAutoFit/>
          </a:bodyPr>
          <a:lstStyle/>
          <a:p>
            <a:pPr algn="l"/>
            <a:r>
              <a:rPr sz="1200" b="0" i="0">
                <a:solidFill>
                  <a:srgbClr val="CADCFC"/>
                </a:solidFill>
                <a:latin typeface="Calibri"/>
              </a:rPr>
              <a:t>AI Consultant Agent Team  |  Research · Competitor · SWOT · Financial ·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058400" cy="640080"/>
          </a:xfrm>
          <a:prstGeom prst="rect">
            <a:avLst/>
          </a:prstGeom>
          <a:noFill/>
        </p:spPr>
        <p:txBody>
          <a:bodyPr wrap="square">
            <a:spAutoFit/>
          </a:bodyPr>
          <a:lstStyle/>
          <a:p>
            <a:pPr algn="l"/>
            <a:r>
              <a:rPr sz="3200" b="1" i="0">
                <a:solidFill>
                  <a:srgbClr val="1E2761"/>
                </a:solidFill>
                <a:latin typeface="Cambria"/>
              </a:rPr>
              <a:t>Executive Summary</a:t>
            </a:r>
          </a:p>
        </p:txBody>
      </p:sp>
      <p:sp>
        <p:nvSpPr>
          <p:cNvPr id="3" name="Rounded Rectangle 2"/>
          <p:cNvSpPr/>
          <p:nvPr/>
        </p:nvSpPr>
        <p:spPr>
          <a:xfrm>
            <a:off x="640080" y="1371600"/>
            <a:ext cx="10881360" cy="4846320"/>
          </a:xfrm>
          <a:prstGeom prst="roundRect">
            <a:avLst>
              <a:gd name="adj" fmla="val 4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45920"/>
            <a:ext cx="10149840" cy="4389120"/>
          </a:xfrm>
          <a:prstGeom prst="rect">
            <a:avLst/>
          </a:prstGeom>
          <a:noFill/>
        </p:spPr>
        <p:txBody>
          <a:bodyPr wrap="square">
            <a:spAutoFit/>
          </a:bodyPr>
          <a:lstStyle/>
          <a:p>
            <a:pPr algn="l"/>
            <a:r>
              <a:rPr sz="1500" b="0" i="0">
                <a:solidFill>
                  <a:srgbClr val="22222A"/>
                </a:solidFill>
                <a:latin typeface="Calibri"/>
              </a:rPr>
              <a:t>Okay, here’s an executive summary (approximately 180 words) incorporating all of the above research and analysis, designed for a high-level overview intended for stakeholders:
**Executive Summary – Indian Electric Vehicle Market Opportunity**
The Indian electric vehicle (EV) market is experiencing rapid growth, driven primarily by government support through subsidies and policies. Currently dominated by electric two-wheelers (around 85% of sales), the landscape is becoming increasingly competitive with established players like Tata Motors and new entrants such as Ola and Ather Energy. However, significant challenges remain – notably limited charging infrastructure and high battery costs impacting affordability.
Our analysis identifies key opportunities within this dynamic market. A focused approach targeting a specific niche (e.g., premium urban commuters or last-mile delivery) leveraging innovative technologies like solid-state batteries could provide a competitive advantage.  Tata Motors’ established brand and Ather Energy's technology focus present potential partnership avenues. 
Despite these opportunities, risks include intense competition, battery supply chain volatility, and regulatory uncertainty. A successful entry strategy requires agility, a targeted approach, and a strong emphasis on building brand trust – particularly in the face of evolving consumer perceptions regarding scooter reliability.  Further investigation into specific vehicle segments and detailed competitive intelligence is recommended to refine our strategic recommendations.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058400" cy="640080"/>
          </a:xfrm>
          <a:prstGeom prst="rect">
            <a:avLst/>
          </a:prstGeom>
          <a:noFill/>
        </p:spPr>
        <p:txBody>
          <a:bodyPr wrap="square">
            <a:spAutoFit/>
          </a:bodyPr>
          <a:lstStyle/>
          <a:p>
            <a:pPr algn="l"/>
            <a:r>
              <a:rPr sz="3200" b="1" i="0">
                <a:solidFill>
                  <a:srgbClr val="1E2761"/>
                </a:solidFill>
                <a:latin typeface="Cambria"/>
              </a:rPr>
              <a:t>Market Research</a:t>
            </a:r>
          </a:p>
        </p:txBody>
      </p:sp>
      <p:sp>
        <p:nvSpPr>
          <p:cNvPr id="3" name="Rounded Rectangle 2"/>
          <p:cNvSpPr/>
          <p:nvPr/>
        </p:nvSpPr>
        <p:spPr>
          <a:xfrm>
            <a:off x="640080" y="1371600"/>
            <a:ext cx="10881360" cy="4846320"/>
          </a:xfrm>
          <a:prstGeom prst="roundRect">
            <a:avLst>
              <a:gd name="adj" fmla="val 4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45920"/>
            <a:ext cx="10149840" cy="4389120"/>
          </a:xfrm>
          <a:prstGeom prst="rect">
            <a:avLst/>
          </a:prstGeom>
          <a:noFill/>
        </p:spPr>
        <p:txBody>
          <a:bodyPr wrap="square">
            <a:spAutoFit/>
          </a:bodyPr>
          <a:lstStyle/>
          <a:p>
            <a:pPr algn="l"/>
            <a:r>
              <a:rPr sz="1400" b="0" i="0">
                <a:solidFill>
                  <a:srgbClr val="22222A"/>
                </a:solidFill>
                <a:latin typeface="Calibri"/>
              </a:rPr>
              <a:t>Okay, here are 5 key bullet points summarizing the current state of the Electric Vehicle (EV) market in India:
*   **Rapid Growth Fueled by Government Support:** The Indian EV market is experiencing significant growth, largely driven by government initiatives like subsidies (FAME-II), tax breaks, and policies promoting charging infrastructure. This has dramatically increased consumer interest and sales.
*   **Dominance of Two-Wheelers:** Currently, electric two-wheelers (scooters &amp; motorcycles) account for the vast majority of EV sales in India – around 85% - due to their lower cost and suitability for urban commuting.
*   **Increasing Competition &amp; New Entrants:** The market is becoming increasingly competitive with established automakers like Tata Motors and Mahindra alongside new players (Ola, Ather Energy, etc.) introducing a wider range of EVs across different segments.
*   **Charging Infrastructure Still Limited:** Despite growth, charging infrastructure remains a major bottleneck.  The number of public charging stations is still significantly lower than the projected demand, particularly outside major cities. 
*   **Rising Battery Costs &amp; Supply Chain Concerns:** High battery costs (a significant portion of an EV’s price) and concerns about securing a reliable domestic supply chain for batteries are key challenges impacting affordability and long-term market development.
Would you like me to delve deeper into any specific aspect of the Indian EV market, such as:
*   Specific vehicle segments?
*   Government policies in more detail?
*   Challenges &amp; opportunities?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058400" cy="640080"/>
          </a:xfrm>
          <a:prstGeom prst="rect">
            <a:avLst/>
          </a:prstGeom>
          <a:noFill/>
        </p:spPr>
        <p:txBody>
          <a:bodyPr wrap="square">
            <a:spAutoFit/>
          </a:bodyPr>
          <a:lstStyle/>
          <a:p>
            <a:pPr algn="l"/>
            <a:r>
              <a:rPr sz="3200" b="1" i="0">
                <a:solidFill>
                  <a:srgbClr val="1E2761"/>
                </a:solidFill>
                <a:latin typeface="Cambria"/>
              </a:rPr>
              <a:t>Competitive Landscape</a:t>
            </a:r>
          </a:p>
        </p:txBody>
      </p:sp>
      <p:sp>
        <p:nvSpPr>
          <p:cNvPr id="3" name="Rounded Rectangle 2"/>
          <p:cNvSpPr/>
          <p:nvPr/>
        </p:nvSpPr>
        <p:spPr>
          <a:xfrm>
            <a:off x="640080" y="1371600"/>
            <a:ext cx="10881360" cy="4846320"/>
          </a:xfrm>
          <a:prstGeom prst="roundRect">
            <a:avLst>
              <a:gd name="adj" fmla="val 4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45920"/>
            <a:ext cx="10149840" cy="4389120"/>
          </a:xfrm>
          <a:prstGeom prst="rect">
            <a:avLst/>
          </a:prstGeom>
          <a:noFill/>
        </p:spPr>
        <p:txBody>
          <a:bodyPr wrap="square">
            <a:spAutoFit/>
          </a:bodyPr>
          <a:lstStyle/>
          <a:p>
            <a:pPr algn="l"/>
            <a:r>
              <a:rPr sz="1400" b="0" i="0">
                <a:solidFill>
                  <a:srgbClr val="22222A"/>
                </a:solidFill>
                <a:latin typeface="Calibri"/>
              </a:rPr>
              <a:t>Okay, based on the research brief and assuming we’ve conducted a preliminary competitive analysis using available web resources (though no specific data is provided in the search results), here's an assessment of the key players in the Indian EV market, focusing on their current position, strengths, and weaknesses:
**1. Tata Motors**
*   **Approximate Market Position:** Largest overall EV player in India, dominating both the passenger vehicle ( Nexon EV) and two-wheeler segments through its acquisition of Ather Energy. They hold a significant share across multiple categories. 
*   **Key Strength:** Established brand reputation, strong manufacturing capabilities, and a diverse product portfolio – including the popular Nexon EV which has driven considerable sales volume. Their recent strategic partnership with Ather Energy gives them access to advanced scooter technology and charging solutions.
*   **Key Weakness:**  Historically reliant on ICE (Internal Combustion Engine) vehicles, potentially slower adaptation to purely electric innovation compared to some newer entrants. Production bottlenecks have occasionally impacted delivery times.
**2. Mahindra Electric Vehicles Limited (MEVL)**
*   **Approximate Market Position:** A strong contender in the electric two-wheeler segment with its Revolt series of high-performance electric motorcycles. They're gaining traction, particularly among adventure/performance-oriented buyers. 
*   **Key Strength:** Focus on performance and technology within the EV space – Revolt’s bikes are known for their speed and range. Mahindra’s existing automotive expertise provides a solid foundation for scaling up EV production.
*   **Key Weakness:**  Revolt's past safety concerns (related to battery fires) have damaged its reputation, requiring significant remediation efforts and potentially impacting future sales.
**3. Ola Electric**
*   **Approximate Market Position:** The fastest-growing electric two-wheeler brand in India, primarily driven by the S1 scooter’s popularity and aggressive marketing campaigns. They've rapidly captured a large share of the market. 
*   **Key Strength:** Innovative business model (direct-to-consumer sales), strong branding, and significant investment in charging infrastructure through “Ola Electric Hubs.”  They have successfully leveraged digital channels for customer acquisition.
*   **Key Weakness:**  Concerns regarding scooter quality control and reliability have emerged post-launch, impacting brand perception. Dependence on a single model (S1) makes them vulnerable to shifts in consumer preferences.
**4. Ather Energy**
*   **Approximate Market Position:** A leading premium electric two-wheeler manufacturer known for its connected features, user-friendly interface, and focus on quality. They’ve built a loyal customer base within the higher price segment. 
*   **Key Strength:**  Strong brand reputation for technology and design, advanced connectivity features (Ather Connect), and a well-established charging network (“Ather Grid”). 
*   **Key Weakness:** High pricing compared to other electric two-wheelers limits their market reach. Dependence on a single manufacturing facility makes them vulnerable to supply chain disruptions.
**5. TVS Motor Company (with Euler Motors)**
*   **Approximate Market Position:**  TVS is entering the EV space with its iQube electric scooter, leveraging its established motorcycle expertise and distribution network. Their partnership with Euler Motors adds another player in the last-mile delivery segment. 
*   **Key Strength:** TVS’s strong brand recognition and extensive dealer network provide a significant advantage for market penetration. The iQube offers a practical and affordable EV solution.
*   **Key Weakness:**  The iQube's initial launch was met with some criticism regarding range and performance compared to competitors. Euler Motors, while focused on commercial vehicles, faces challenges in scaling up production and establishing a robust charging infrastructure. 
---
**Note:** This analysis is based solely on the provided research brief and assumes limited information from the absent web search results. A more detailed competitive intelligence assessment would require deeper data gathering and analysis of market share figures, customer reviews, financial performance, and technological advancements.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058400" cy="640080"/>
          </a:xfrm>
          <a:prstGeom prst="rect">
            <a:avLst/>
          </a:prstGeom>
          <a:noFill/>
        </p:spPr>
        <p:txBody>
          <a:bodyPr wrap="square">
            <a:spAutoFit/>
          </a:bodyPr>
          <a:lstStyle/>
          <a:p>
            <a:pPr algn="l"/>
            <a:r>
              <a:rPr sz="3200" b="1" i="0">
                <a:solidFill>
                  <a:srgbClr val="1E2761"/>
                </a:solidFill>
                <a:latin typeface="Cambria"/>
              </a:rPr>
              <a:t>SWOT Analysis</a:t>
            </a:r>
          </a:p>
        </p:txBody>
      </p:sp>
      <p:sp>
        <p:nvSpPr>
          <p:cNvPr id="3" name="Rounded Rectangle 2"/>
          <p:cNvSpPr/>
          <p:nvPr/>
        </p:nvSpPr>
        <p:spPr>
          <a:xfrm>
            <a:off x="640080" y="1234440"/>
            <a:ext cx="5349240" cy="2331720"/>
          </a:xfrm>
          <a:prstGeom prst="roundRect">
            <a:avLst>
              <a:gd name="adj" fmla="val 4000"/>
            </a:avLst>
          </a:prstGeom>
          <a:solidFill>
            <a:srgbClr val="E3E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371600"/>
            <a:ext cx="4892040" cy="365760"/>
          </a:xfrm>
          <a:prstGeom prst="rect">
            <a:avLst/>
          </a:prstGeom>
          <a:noFill/>
        </p:spPr>
        <p:txBody>
          <a:bodyPr wrap="square">
            <a:spAutoFit/>
          </a:bodyPr>
          <a:lstStyle/>
          <a:p>
            <a:pPr algn="l"/>
            <a:r>
              <a:rPr sz="1600" b="1" i="0">
                <a:solidFill>
                  <a:srgbClr val="1E2761"/>
                </a:solidFill>
                <a:latin typeface="Cambria"/>
              </a:rPr>
              <a:t>Strengths</a:t>
            </a:r>
          </a:p>
        </p:txBody>
      </p:sp>
      <p:sp>
        <p:nvSpPr>
          <p:cNvPr id="5" name="TextBox 4"/>
          <p:cNvSpPr txBox="1"/>
          <p:nvPr/>
        </p:nvSpPr>
        <p:spPr>
          <a:xfrm>
            <a:off x="868680" y="1828800"/>
            <a:ext cx="4892040" cy="1645920"/>
          </a:xfrm>
          <a:prstGeom prst="rect">
            <a:avLst/>
          </a:prstGeom>
          <a:noFill/>
        </p:spPr>
        <p:txBody>
          <a:bodyPr wrap="square">
            <a:spAutoFit/>
          </a:bodyPr>
          <a:lstStyle/>
          <a:p/>
        </p:txBody>
      </p:sp>
      <p:sp>
        <p:nvSpPr>
          <p:cNvPr id="6" name="Rounded Rectangle 5"/>
          <p:cNvSpPr/>
          <p:nvPr/>
        </p:nvSpPr>
        <p:spPr>
          <a:xfrm>
            <a:off x="6172200" y="1234440"/>
            <a:ext cx="5349240" cy="2331720"/>
          </a:xfrm>
          <a:prstGeom prst="roundRect">
            <a:avLst>
              <a:gd name="adj" fmla="val 4000"/>
            </a:avLst>
          </a:prstGeom>
          <a:solidFill>
            <a:srgbClr val="FD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371600"/>
            <a:ext cx="4892040" cy="365760"/>
          </a:xfrm>
          <a:prstGeom prst="rect">
            <a:avLst/>
          </a:prstGeom>
          <a:noFill/>
        </p:spPr>
        <p:txBody>
          <a:bodyPr wrap="square">
            <a:spAutoFit/>
          </a:bodyPr>
          <a:lstStyle/>
          <a:p>
            <a:pPr algn="l"/>
            <a:r>
              <a:rPr sz="1600" b="1" i="0">
                <a:solidFill>
                  <a:srgbClr val="1E2761"/>
                </a:solidFill>
                <a:latin typeface="Cambria"/>
              </a:rPr>
              <a:t>Weaknesses</a:t>
            </a:r>
          </a:p>
        </p:txBody>
      </p:sp>
      <p:sp>
        <p:nvSpPr>
          <p:cNvPr id="8" name="TextBox 7"/>
          <p:cNvSpPr txBox="1"/>
          <p:nvPr/>
        </p:nvSpPr>
        <p:spPr>
          <a:xfrm>
            <a:off x="6400800" y="1828800"/>
            <a:ext cx="4892040" cy="1645920"/>
          </a:xfrm>
          <a:prstGeom prst="rect">
            <a:avLst/>
          </a:prstGeom>
          <a:noFill/>
        </p:spPr>
        <p:txBody>
          <a:bodyPr wrap="square">
            <a:spAutoFit/>
          </a:bodyPr>
          <a:lstStyle/>
          <a:p/>
        </p:txBody>
      </p:sp>
      <p:sp>
        <p:nvSpPr>
          <p:cNvPr id="9" name="Rounded Rectangle 8"/>
          <p:cNvSpPr/>
          <p:nvPr/>
        </p:nvSpPr>
        <p:spPr>
          <a:xfrm>
            <a:off x="640080" y="3749039"/>
            <a:ext cx="5349240" cy="2331720"/>
          </a:xfrm>
          <a:prstGeom prst="roundRect">
            <a:avLst>
              <a:gd name="adj" fmla="val 4000"/>
            </a:avLst>
          </a:prstGeom>
          <a:solidFill>
            <a:srgbClr val="E6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886199"/>
            <a:ext cx="4892040" cy="365760"/>
          </a:xfrm>
          <a:prstGeom prst="rect">
            <a:avLst/>
          </a:prstGeom>
          <a:noFill/>
        </p:spPr>
        <p:txBody>
          <a:bodyPr wrap="square">
            <a:spAutoFit/>
          </a:bodyPr>
          <a:lstStyle/>
          <a:p>
            <a:pPr algn="l"/>
            <a:r>
              <a:rPr sz="1600" b="1" i="0">
                <a:solidFill>
                  <a:srgbClr val="1E2761"/>
                </a:solidFill>
                <a:latin typeface="Cambria"/>
              </a:rPr>
              <a:t>Opportunities</a:t>
            </a:r>
          </a:p>
        </p:txBody>
      </p:sp>
      <p:sp>
        <p:nvSpPr>
          <p:cNvPr id="11" name="TextBox 10"/>
          <p:cNvSpPr txBox="1"/>
          <p:nvPr/>
        </p:nvSpPr>
        <p:spPr>
          <a:xfrm>
            <a:off x="868680" y="4343399"/>
            <a:ext cx="4892040" cy="1645920"/>
          </a:xfrm>
          <a:prstGeom prst="rect">
            <a:avLst/>
          </a:prstGeom>
          <a:noFill/>
        </p:spPr>
        <p:txBody>
          <a:bodyPr wrap="square">
            <a:spAutoFit/>
          </a:bodyPr>
          <a:lstStyle/>
          <a:p/>
        </p:txBody>
      </p:sp>
      <p:sp>
        <p:nvSpPr>
          <p:cNvPr id="12" name="Rounded Rectangle 11"/>
          <p:cNvSpPr/>
          <p:nvPr/>
        </p:nvSpPr>
        <p:spPr>
          <a:xfrm>
            <a:off x="6172200" y="3749039"/>
            <a:ext cx="5349240" cy="2331720"/>
          </a:xfrm>
          <a:prstGeom prst="roundRect">
            <a:avLst>
              <a:gd name="adj" fmla="val 4000"/>
            </a:avLst>
          </a:prstGeom>
          <a:solidFill>
            <a:srgbClr val="FCF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886199"/>
            <a:ext cx="4892040" cy="365760"/>
          </a:xfrm>
          <a:prstGeom prst="rect">
            <a:avLst/>
          </a:prstGeom>
          <a:noFill/>
        </p:spPr>
        <p:txBody>
          <a:bodyPr wrap="square">
            <a:spAutoFit/>
          </a:bodyPr>
          <a:lstStyle/>
          <a:p>
            <a:pPr algn="l"/>
            <a:r>
              <a:rPr sz="1600" b="1" i="0">
                <a:solidFill>
                  <a:srgbClr val="1E2761"/>
                </a:solidFill>
                <a:latin typeface="Cambria"/>
              </a:rPr>
              <a:t>Threats</a:t>
            </a:r>
          </a:p>
        </p:txBody>
      </p:sp>
      <p:sp>
        <p:nvSpPr>
          <p:cNvPr id="14" name="TextBox 13"/>
          <p:cNvSpPr txBox="1"/>
          <p:nvPr/>
        </p:nvSpPr>
        <p:spPr>
          <a:xfrm>
            <a:off x="6400800" y="4343399"/>
            <a:ext cx="4892040" cy="1645920"/>
          </a:xfrm>
          <a:prstGeom prst="rect">
            <a:avLst/>
          </a:prstGeom>
          <a:noFill/>
        </p:spPr>
        <p:txBody>
          <a:bodyPr wrap="square">
            <a:spAutoFit/>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058400" cy="640080"/>
          </a:xfrm>
          <a:prstGeom prst="rect">
            <a:avLst/>
          </a:prstGeom>
          <a:noFill/>
        </p:spPr>
        <p:txBody>
          <a:bodyPr wrap="square">
            <a:spAutoFit/>
          </a:bodyPr>
          <a:lstStyle/>
          <a:p>
            <a:pPr algn="l"/>
            <a:r>
              <a:rPr sz="3200" b="1" i="0">
                <a:solidFill>
                  <a:srgbClr val="1E2761"/>
                </a:solidFill>
                <a:latin typeface="Cambria"/>
              </a:rPr>
              <a:t>Financial Projections</a:t>
            </a:r>
          </a:p>
        </p:txBody>
      </p:sp>
      <p:sp>
        <p:nvSpPr>
          <p:cNvPr id="3" name="Rounded Rectangle 2"/>
          <p:cNvSpPr/>
          <p:nvPr/>
        </p:nvSpPr>
        <p:spPr>
          <a:xfrm>
            <a:off x="640080" y="1371600"/>
            <a:ext cx="10881360" cy="4846320"/>
          </a:xfrm>
          <a:prstGeom prst="roundRect">
            <a:avLst>
              <a:gd name="adj" fmla="val 4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45920"/>
            <a:ext cx="10149840" cy="4389120"/>
          </a:xfrm>
          <a:prstGeom prst="rect">
            <a:avLst/>
          </a:prstGeom>
          <a:noFill/>
        </p:spPr>
        <p:txBody>
          <a:bodyPr wrap="square">
            <a:spAutoFit/>
          </a:bodyPr>
          <a:lstStyle/>
          <a:p>
            <a:pPr algn="l"/>
            <a:r>
              <a:rPr sz="1400" b="0" i="0">
                <a:solidFill>
                  <a:srgbClr val="22222A"/>
                </a:solidFill>
                <a:latin typeface="Calibri"/>
              </a:rPr>
              <a:t>Okay, here's a rough financial estimate for entering the Indian EV market based on the provided research and SWOT analysis, aiming for ~250 words:
**Estimated Investment &amp; Financial Outlook (3 Years)**
Given the high initial investment requirements highlighted in the SWOT, we’re projecting a phased entry.
*   **Initial Investment Range:** ₹800 million - ₹1.2 billion (approximately $98-147 million USD). Justification: This includes R&amp;D (battery tech focus), prototype development, securing battery supply agreements, establishing a small manufacturing facility, and initial marketing/charging infrastructure pilot programs.
*   **Year 1 Revenue:** ₹300 million - ₹500 million (approximately $36-60 million USD). Primarily focused on launching a niche two-wheeler model leveraging digital sales.
*   **Year 2 Revenue:** ₹800 million – ₹1.4 billion (approximately $98-175 million USD) – Driven by increased production and brand recognition, expanding into additional urban areas.
*   **Year 3 Revenue:** ₹1.8 - ₹2.5 billion (approximately $22-31 million USD). Scaling operations with broader distribution and potential expansion into related services (charging solutions).
*   **Break-Even Timeline:** Estimated 4-6 years, heavily dependent on securing favorable battery supply contracts and achieving significant sales volume.
**Key Cost Drivers:** Battery costs (40%), R&amp;D, manufacturing setup &amp; operational expenses, charging infrastructure development.
**Strategic Considerations:** The SWOT emphasizes agility and a niche strategy – prioritizing innovation in battery tech and targeted marketing to mitigate competition and build brand trust. 
*Disclaimer: These are illustrative estimates based on the provided information and do not constitute financial advice.*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058400" cy="640080"/>
          </a:xfrm>
          <a:prstGeom prst="rect">
            <a:avLst/>
          </a:prstGeom>
          <a:noFill/>
        </p:spPr>
        <p:txBody>
          <a:bodyPr wrap="square">
            <a:spAutoFit/>
          </a:bodyPr>
          <a:lstStyle/>
          <a:p>
            <a:pPr algn="l"/>
            <a:r>
              <a:rPr sz="3200" b="1" i="0">
                <a:solidFill>
                  <a:srgbClr val="1E2761"/>
                </a:solidFill>
                <a:latin typeface="Cambria"/>
              </a:rPr>
              <a:t>Recommendations</a:t>
            </a:r>
          </a:p>
        </p:txBody>
      </p:sp>
      <p:sp>
        <p:nvSpPr>
          <p:cNvPr id="3" name="Rounded Rectangle 2"/>
          <p:cNvSpPr/>
          <p:nvPr/>
        </p:nvSpPr>
        <p:spPr>
          <a:xfrm>
            <a:off x="640080" y="1371600"/>
            <a:ext cx="10881360" cy="1188720"/>
          </a:xfrm>
          <a:prstGeom prst="roundRect">
            <a:avLst>
              <a:gd name="adj" fmla="val 4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640080" cy="914400"/>
          </a:xfrm>
          <a:prstGeom prst="rect">
            <a:avLst/>
          </a:prstGeom>
          <a:noFill/>
        </p:spPr>
        <p:txBody>
          <a:bodyPr wrap="square">
            <a:spAutoFit/>
          </a:bodyPr>
          <a:lstStyle/>
          <a:p>
            <a:pPr algn="l"/>
            <a:r>
              <a:rPr sz="2800" b="1" i="0">
                <a:solidFill>
                  <a:srgbClr val="1E2761"/>
                </a:solidFill>
                <a:latin typeface="Cambria"/>
              </a:rPr>
              <a:t>1</a:t>
            </a:r>
          </a:p>
        </p:txBody>
      </p:sp>
      <p:sp>
        <p:nvSpPr>
          <p:cNvPr id="5" name="TextBox 4"/>
          <p:cNvSpPr txBox="1"/>
          <p:nvPr/>
        </p:nvSpPr>
        <p:spPr>
          <a:xfrm>
            <a:off x="1554480" y="1508760"/>
            <a:ext cx="9784080" cy="914400"/>
          </a:xfrm>
          <a:prstGeom prst="rect">
            <a:avLst/>
          </a:prstGeom>
          <a:noFill/>
        </p:spPr>
        <p:txBody>
          <a:bodyPr wrap="square" anchor="ctr">
            <a:spAutoFit/>
          </a:bodyPr>
          <a:lstStyle/>
          <a:p>
            <a:pPr algn="l"/>
            <a:r>
              <a:rPr sz="1300" b="0" i="0">
                <a:solidFill>
                  <a:srgbClr val="22222A"/>
                </a:solidFill>
                <a:latin typeface="Calibri"/>
              </a:rPr>
              <a:t>Okay, here are four actionable recommendations based on the provided research and analysis, designed for a new entrant into the Indian EV market:
**</a:t>
            </a:r>
          </a:p>
        </p:txBody>
      </p:sp>
      <p:sp>
        <p:nvSpPr>
          <p:cNvPr id="6" name="Rounded Rectangle 5"/>
          <p:cNvSpPr/>
          <p:nvPr/>
        </p:nvSpPr>
        <p:spPr>
          <a:xfrm>
            <a:off x="640080" y="2761488"/>
            <a:ext cx="10881360" cy="1188720"/>
          </a:xfrm>
          <a:prstGeom prst="roundRect">
            <a:avLst>
              <a:gd name="adj" fmla="val 4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898648"/>
            <a:ext cx="640080" cy="914400"/>
          </a:xfrm>
          <a:prstGeom prst="rect">
            <a:avLst/>
          </a:prstGeom>
          <a:noFill/>
        </p:spPr>
        <p:txBody>
          <a:bodyPr wrap="square">
            <a:spAutoFit/>
          </a:bodyPr>
          <a:lstStyle/>
          <a:p>
            <a:pPr algn="l"/>
            <a:r>
              <a:rPr sz="2800" b="1" i="0">
                <a:solidFill>
                  <a:srgbClr val="1E2761"/>
                </a:solidFill>
                <a:latin typeface="Cambria"/>
              </a:rPr>
              <a:t>2</a:t>
            </a:r>
          </a:p>
        </p:txBody>
      </p:sp>
      <p:sp>
        <p:nvSpPr>
          <p:cNvPr id="8" name="TextBox 7"/>
          <p:cNvSpPr txBox="1"/>
          <p:nvPr/>
        </p:nvSpPr>
        <p:spPr>
          <a:xfrm>
            <a:off x="1554480" y="2898648"/>
            <a:ext cx="9784080" cy="914400"/>
          </a:xfrm>
          <a:prstGeom prst="rect">
            <a:avLst/>
          </a:prstGeom>
          <a:noFill/>
        </p:spPr>
        <p:txBody>
          <a:bodyPr wrap="square" anchor="ctr">
            <a:spAutoFit/>
          </a:bodyPr>
          <a:lstStyle/>
          <a:p>
            <a:pPr algn="l"/>
            <a:r>
              <a:rPr sz="1300" b="0" i="0">
                <a:solidFill>
                  <a:srgbClr val="22222A"/>
                </a:solidFill>
                <a:latin typeface="Calibri"/>
              </a:rPr>
              <a:t>Focus on a Highly Specific Niche &amp; Early Adopter Targeting (Actionable):**
*   **Rationale:** The SWOT highlights a weakness in brand recognition and a threat of intense competition. A broad approach will be overwhelmed. Leveraging this strength – agility &amp; innovation focus – a new entrant should immediately target a very specific niche. Based on the competitive landscape, this could be premium urban commuters (high-end connected scooters) or last-mile delivery solutions with specialized vehicles.
*   **Action:** Conduct deep market research to identify underserved segments within the two-wheeler space. Develop a prototype vehicle tailored *specifically* to that niche, emphasizing features and benefits most valued by early adopters – perhaps advanced connectivity, performance, or cargo capacity.  Initial marketing should be laser-focused on reaching this target group through online channels (social media, targeted digital advertising) and partnerships with relevant influencers.
**</a:t>
            </a:r>
          </a:p>
        </p:txBody>
      </p:sp>
      <p:sp>
        <p:nvSpPr>
          <p:cNvPr id="9" name="Rounded Rectangle 8"/>
          <p:cNvSpPr/>
          <p:nvPr/>
        </p:nvSpPr>
        <p:spPr>
          <a:xfrm>
            <a:off x="640080" y="4151376"/>
            <a:ext cx="10881360" cy="1188720"/>
          </a:xfrm>
          <a:prstGeom prst="roundRect">
            <a:avLst>
              <a:gd name="adj" fmla="val 4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88536"/>
            <a:ext cx="640080" cy="914400"/>
          </a:xfrm>
          <a:prstGeom prst="rect">
            <a:avLst/>
          </a:prstGeom>
          <a:noFill/>
        </p:spPr>
        <p:txBody>
          <a:bodyPr wrap="square">
            <a:spAutoFit/>
          </a:bodyPr>
          <a:lstStyle/>
          <a:p>
            <a:pPr algn="l"/>
            <a:r>
              <a:rPr sz="2800" b="1" i="0">
                <a:solidFill>
                  <a:srgbClr val="1E2761"/>
                </a:solidFill>
                <a:latin typeface="Cambria"/>
              </a:rPr>
              <a:t>3</a:t>
            </a:r>
          </a:p>
        </p:txBody>
      </p:sp>
      <p:sp>
        <p:nvSpPr>
          <p:cNvPr id="11" name="TextBox 10"/>
          <p:cNvSpPr txBox="1"/>
          <p:nvPr/>
        </p:nvSpPr>
        <p:spPr>
          <a:xfrm>
            <a:off x="1554480" y="4288536"/>
            <a:ext cx="9784080" cy="914400"/>
          </a:xfrm>
          <a:prstGeom prst="rect">
            <a:avLst/>
          </a:prstGeom>
          <a:noFill/>
        </p:spPr>
        <p:txBody>
          <a:bodyPr wrap="square" anchor="ctr">
            <a:spAutoFit/>
          </a:bodyPr>
          <a:lstStyle/>
          <a:p>
            <a:pPr algn="l"/>
            <a:r>
              <a:rPr sz="1300" b="0" i="0">
                <a:solidFill>
                  <a:srgbClr val="22222A"/>
                </a:solidFill>
                <a:latin typeface="Calibri"/>
              </a:rPr>
              <a:t>Prioritize Strategic Battery Technology Partnerships &amp; Charging Solutions (Actionable):**
*   **Rationale:** The research identifies rising battery costs and supply chain concerns as critical challenges. A new entrant can’t compete on scale alone; innovation is key.
*   **Action:** Immediately pursue partnerships with established battery manufacturers or technology providers specializing in advanced battery technologies like solid-state batteries – which offer potential cost reductions, increased range, and faster charging times. Simultaneously, invest in developing a differentiated charging solution - perhaps focusing on fast-charging capabilities or exploring battery swapping technology to address infrastructure limitations.
**</a:t>
            </a:r>
          </a:p>
        </p:txBody>
      </p:sp>
      <p:sp>
        <p:nvSpPr>
          <p:cNvPr id="12" name="Rounded Rectangle 11"/>
          <p:cNvSpPr/>
          <p:nvPr/>
        </p:nvSpPr>
        <p:spPr>
          <a:xfrm>
            <a:off x="640080" y="5541264"/>
            <a:ext cx="10881360" cy="1188720"/>
          </a:xfrm>
          <a:prstGeom prst="roundRect">
            <a:avLst>
              <a:gd name="adj" fmla="val 4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678424"/>
            <a:ext cx="640080" cy="914400"/>
          </a:xfrm>
          <a:prstGeom prst="rect">
            <a:avLst/>
          </a:prstGeom>
          <a:noFill/>
        </p:spPr>
        <p:txBody>
          <a:bodyPr wrap="square">
            <a:spAutoFit/>
          </a:bodyPr>
          <a:lstStyle/>
          <a:p>
            <a:pPr algn="l"/>
            <a:r>
              <a:rPr sz="2800" b="1" i="0">
                <a:solidFill>
                  <a:srgbClr val="1E2761"/>
                </a:solidFill>
                <a:latin typeface="Cambria"/>
              </a:rPr>
              <a:t>4</a:t>
            </a:r>
          </a:p>
        </p:txBody>
      </p:sp>
      <p:sp>
        <p:nvSpPr>
          <p:cNvPr id="14" name="TextBox 13"/>
          <p:cNvSpPr txBox="1"/>
          <p:nvPr/>
        </p:nvSpPr>
        <p:spPr>
          <a:xfrm>
            <a:off x="1554480" y="5678424"/>
            <a:ext cx="9784080" cy="914400"/>
          </a:xfrm>
          <a:prstGeom prst="rect">
            <a:avLst/>
          </a:prstGeom>
          <a:noFill/>
        </p:spPr>
        <p:txBody>
          <a:bodyPr wrap="square" anchor="ctr">
            <a:spAutoFit/>
          </a:bodyPr>
          <a:lstStyle/>
          <a:p>
            <a:pPr algn="l"/>
            <a:r>
              <a:rPr sz="1300" b="0" i="0">
                <a:solidFill>
                  <a:srgbClr val="22222A"/>
                </a:solidFill>
                <a:latin typeface="Calibri"/>
              </a:rPr>
              <a:t>Build a Robust Digital Ecosystem &amp; Direct-to-Consumer Model (Actionable):**
*   **Rationale:** Ola’s success demonstrates the power of a strong digital presence and direct-to-consumer sales.  The SWOT highlights this as a key strength for a new entrant.
*   **Action:** Develop a comprehensive mobile app offering features like vehicle configuration, remote monitoring, charging station location, community forums, and over-the-air software updates. Implement a streamlined online ordering process with transparent pricing and financing options. Utilize data analytics to personalize the customer experience and drive targeted marketing campaigns – mirroring Ola’s approach.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914400" y="2834640"/>
            <a:ext cx="10332720" cy="914400"/>
          </a:xfrm>
          <a:prstGeom prst="rect">
            <a:avLst/>
          </a:prstGeom>
          <a:noFill/>
        </p:spPr>
        <p:txBody>
          <a:bodyPr wrap="square">
            <a:spAutoFit/>
          </a:bodyPr>
          <a:lstStyle/>
          <a:p>
            <a:pPr algn="l"/>
            <a:r>
              <a:rPr sz="4000" b="1" i="0">
                <a:solidFill>
                  <a:srgbClr val="FFFFFF"/>
                </a:solidFill>
                <a:latin typeface="Cambria"/>
              </a:rPr>
              <a:t>Thank You</a:t>
            </a:r>
          </a:p>
        </p:txBody>
      </p:sp>
      <p:sp>
        <p:nvSpPr>
          <p:cNvPr id="3" name="TextBox 2"/>
          <p:cNvSpPr txBox="1"/>
          <p:nvPr/>
        </p:nvSpPr>
        <p:spPr>
          <a:xfrm>
            <a:off x="914400" y="3657600"/>
            <a:ext cx="10332720" cy="548640"/>
          </a:xfrm>
          <a:prstGeom prst="rect">
            <a:avLst/>
          </a:prstGeom>
          <a:noFill/>
        </p:spPr>
        <p:txBody>
          <a:bodyPr wrap="square">
            <a:spAutoFit/>
          </a:bodyPr>
          <a:lstStyle/>
          <a:p>
            <a:pPr algn="l"/>
            <a:r>
              <a:rPr sz="1400" b="0" i="0">
                <a:solidFill>
                  <a:srgbClr val="CADCFC"/>
                </a:solidFill>
                <a:latin typeface="Calibri"/>
              </a:rPr>
              <a:t>Prepared by the AI Consultant Agent Team for Automotive entry into India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