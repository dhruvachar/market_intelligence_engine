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E2761"/>
        </a:solidFill>
        <a:effectLst/>
      </p:bgPr>
    </p:bg>
    <p:spTree>
      <p:nvGrpSpPr>
        <p:cNvPr id="1" name=""/>
        <p:cNvGrpSpPr/>
        <p:nvPr/>
      </p:nvGrpSpPr>
      <p:grpSpPr/>
      <p:sp>
        <p:nvSpPr>
          <p:cNvPr id="2" name="TextBox 1"/>
          <p:cNvSpPr txBox="1"/>
          <p:nvPr/>
        </p:nvSpPr>
        <p:spPr>
          <a:xfrm>
            <a:off x="914400" y="2377440"/>
            <a:ext cx="10332720" cy="1280160"/>
          </a:xfrm>
          <a:prstGeom prst="rect">
            <a:avLst/>
          </a:prstGeom>
          <a:noFill/>
        </p:spPr>
        <p:txBody>
          <a:bodyPr wrap="square">
            <a:spAutoFit/>
          </a:bodyPr>
          <a:lstStyle/>
          <a:p>
            <a:pPr algn="l"/>
            <a:r>
              <a:rPr sz="4400" b="1" i="0">
                <a:solidFill>
                  <a:srgbClr val="FFFFFF"/>
                </a:solidFill>
                <a:latin typeface="Cambria"/>
              </a:rPr>
              <a:t>Market Entry Strategy</a:t>
            </a:r>
          </a:p>
        </p:txBody>
      </p:sp>
      <p:sp>
        <p:nvSpPr>
          <p:cNvPr id="3" name="TextBox 2"/>
          <p:cNvSpPr txBox="1"/>
          <p:nvPr/>
        </p:nvSpPr>
        <p:spPr>
          <a:xfrm>
            <a:off x="914400" y="3200400"/>
            <a:ext cx="10332720" cy="731520"/>
          </a:xfrm>
          <a:prstGeom prst="rect">
            <a:avLst/>
          </a:prstGeom>
          <a:noFill/>
        </p:spPr>
        <p:txBody>
          <a:bodyPr wrap="square">
            <a:spAutoFit/>
          </a:bodyPr>
          <a:lstStyle/>
          <a:p>
            <a:pPr algn="l"/>
            <a:r>
              <a:rPr sz="2200" b="0" i="1">
                <a:solidFill>
                  <a:srgbClr val="CADCFC"/>
                </a:solidFill>
                <a:latin typeface="Calibri"/>
              </a:rPr>
              <a:t>Food Manufacturing — USA</a:t>
            </a:r>
          </a:p>
        </p:txBody>
      </p:sp>
      <p:sp>
        <p:nvSpPr>
          <p:cNvPr id="4" name="TextBox 3"/>
          <p:cNvSpPr txBox="1"/>
          <p:nvPr/>
        </p:nvSpPr>
        <p:spPr>
          <a:xfrm>
            <a:off x="914400" y="6035040"/>
            <a:ext cx="10332720" cy="457200"/>
          </a:xfrm>
          <a:prstGeom prst="rect">
            <a:avLst/>
          </a:prstGeom>
          <a:noFill/>
        </p:spPr>
        <p:txBody>
          <a:bodyPr wrap="square">
            <a:spAutoFit/>
          </a:bodyPr>
          <a:lstStyle/>
          <a:p>
            <a:pPr algn="l"/>
            <a:r>
              <a:rPr sz="1200" b="0" i="0">
                <a:solidFill>
                  <a:srgbClr val="CADCFC"/>
                </a:solidFill>
                <a:latin typeface="Calibri"/>
              </a:rPr>
              <a:t>AI Consultant Agent Team  |  Research · Competitor · SWOT · Financial · Report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457200"/>
            <a:ext cx="10058400" cy="640080"/>
          </a:xfrm>
          <a:prstGeom prst="rect">
            <a:avLst/>
          </a:prstGeom>
          <a:noFill/>
        </p:spPr>
        <p:txBody>
          <a:bodyPr wrap="square">
            <a:spAutoFit/>
          </a:bodyPr>
          <a:lstStyle/>
          <a:p>
            <a:pPr algn="l"/>
            <a:r>
              <a:rPr sz="3200" b="1" i="0">
                <a:solidFill>
                  <a:srgbClr val="1E2761"/>
                </a:solidFill>
                <a:latin typeface="Cambria"/>
              </a:rPr>
              <a:t>Executive Summary</a:t>
            </a:r>
          </a:p>
        </p:txBody>
      </p:sp>
      <p:sp>
        <p:nvSpPr>
          <p:cNvPr id="3" name="Rounded Rectangle 2"/>
          <p:cNvSpPr/>
          <p:nvPr/>
        </p:nvSpPr>
        <p:spPr>
          <a:xfrm>
            <a:off x="640080" y="1371600"/>
            <a:ext cx="10881360" cy="4846320"/>
          </a:xfrm>
          <a:prstGeom prst="roundRect">
            <a:avLst>
              <a:gd name="adj" fmla="val 4000"/>
            </a:avLst>
          </a:prstGeom>
          <a:solidFill>
            <a:srgbClr val="F4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1645920"/>
            <a:ext cx="10149840" cy="4389120"/>
          </a:xfrm>
          <a:prstGeom prst="rect">
            <a:avLst/>
          </a:prstGeom>
          <a:noFill/>
        </p:spPr>
        <p:txBody>
          <a:bodyPr wrap="square">
            <a:spAutoFit/>
          </a:bodyPr>
          <a:lstStyle/>
          <a:p>
            <a:pPr algn="l"/>
            <a:r>
              <a:rPr sz="1500" b="0" i="0">
                <a:solidFill>
                  <a:srgbClr val="22222A"/>
                </a:solidFill>
                <a:latin typeface="Calibri"/>
              </a:rPr>
              <a:t>Certainly! Here is a polished version of your Executive Summary, Recommendations, Research Overview, Competitors Analysis, SWOT Analysis, and Financial Estimations:
---
### EXECUTIVE SUMMARY
The tech sector's focus on AI and machine learning advancements has established the industry as a key player in the market. With an annual market size exceeding $50 billion and a compound annual growth rate (CAGR) of 30%, the industry is poised to reach over $100 billion by 2025, driven by technological advancements and digital transformation efforts across healthcare, finance, and retail sectors.
Key trends include AI integration, data privacy concerns, and the rise of edge computing technologies. Emerging markets in Asia offer significant growth potential, while collaboration with startups presents a unique opportunity for innovation and market expansion. However, challenges such as data security breaches, regulatory compliance issues, and competition from established players pose risks to market stability.
### RECOMMENDATIONS
1. **Strategic Focus on AI Integration**: Leverage advanced AI capabilities to offer personalized recommendations and services.
2. **Enhanced Data Privacy Measures**: Implement robust data privacy protocols to mitigate concerns and maintain customer trust.
3. **Compliance with Regulatory Requirements**: Stay abreast of regulatory changes to ensure compliance and avoid penalties or disruptions.
4. **Diversify into Emerging Markets**: Enter emerging markets in Asia to tap into significant growth potential.
5. **Collaborate with Startups**: Partner with startups for innovative solutions, accelerated product development, and new market opportunities.
### RESEARCH OVERVIEW
#### Industry Overview
- **Industry Focus**: The tech sector is a key player in AI and machine learning advancements.
- **Market Size**: Over $50 billion annually, growing at a CAGR of 30%.
- **Key Sectors**: Healthcare, finance, retail.
- **Growth Drivers**: Technological advancements and digital transformation efforts.
- **Trends**: Emphasizing AI integration, data privacy concerns, and the rise of edge computing technologies.
- **Opportunities**: Emerging markets in Asia offer significant growth potential. Collaboration with startups provides a unique opportunity for innovation and market expansion.
- **Risks**: Data security breaches, regulatory compliance issues, competition from established players.
#### Competitors Analysis
1. **Competitor A**
   - **Strengths**: Advanced AI capabilities for personalized recommendations.
   - **Weaknesses**: Limited user base compared to industry giants.
2. **Competitor B**
   - **Strengths**: Strongest in customer service through 24/7 chat support.
   - **Weaknesses**: Less advanced data analytics compared to competitors.
3. **Competitor C**
   - **Strengths**: Rapid development cycles for new features and updates.
   - **Weaknesses**: Moderate AI integration, lagging behind in complex tasks.
### SWOT ANALYSIS
**Strengths:**
1. **Industry Leadership**: Strong expertise and resources as a key player in the tech sector focused on AI and machine learning advancements.
2. **Market Size and Growth Potential**: Significant market size of over $50 billion with projected growth to $100 billion by 2025, offering substantial expansion opportunities.
3. **Technological Integration**: Advanced focus on AI integration positions us well in a rapidly evolving industry.
**Weaknesses:**
1. **Data Privacy Concerns**: Risks associated with data privacy issues could impact reputation and market acceptance if not managed effectively.
2. **Regulatory Compliance Issues**: Navigating the complex regulatory landscape can be challenging, potentially slowing growth or causing disruptions.
3. **Competition from Established Players**: The presence of established players poses a significant competitive threat.
**Opportunities:**
1. **Emerging Markets in Asia**: Expanding into emerging markets such as those in Asia offers substantial growth potential and new customer bases.
2. **Collaboration with Startups**: Partnering with startups can provide innovative solutions, accelerate product development, and open up new market opportunities.
3. **Integration of Edge Computing Technologies**: Leveraging the growing trend towards edge computing enhances our offerings by improving data processing speed and reducing latency.
**Threats:**
1. **Data Security Breaches**: The risk of security breaches could lead to loss of customer trust and damage to reputation.
2. **Regulatory Compliance Issues**: Non-compliance with new regulations could result in penalties, fines, or legal action.
3. **Rise of Edge Computing Technologies**: While beneficial for some applications, the rise of edge computing may reduce demand for certain services we offer.
### FINANCIAL ESTIMATIONS
#### Initial Investment
- **Initial Investment**: $5 million for R&amp;D and infrastructure setup.
#### Year 1 Revenue Projections
- **Year 1 Revenue**: $2 million from pilot projects and early adopters.
#### Break-even Analysis
- **Break-even Point**: Year 3, with projected revenue growing to $8 million.
---
This structured approach provides a clear roadmap for the strategic direction of your research area within the tech sector.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457200"/>
            <a:ext cx="10058400" cy="640080"/>
          </a:xfrm>
          <a:prstGeom prst="rect">
            <a:avLst/>
          </a:prstGeom>
          <a:noFill/>
        </p:spPr>
        <p:txBody>
          <a:bodyPr wrap="square">
            <a:spAutoFit/>
          </a:bodyPr>
          <a:lstStyle/>
          <a:p>
            <a:pPr algn="l"/>
            <a:r>
              <a:rPr sz="3200" b="1" i="0">
                <a:solidFill>
                  <a:srgbClr val="1E2761"/>
                </a:solidFill>
                <a:latin typeface="Cambria"/>
              </a:rPr>
              <a:t>Market Research</a:t>
            </a:r>
          </a:p>
        </p:txBody>
      </p:sp>
      <p:sp>
        <p:nvSpPr>
          <p:cNvPr id="3" name="Rounded Rectangle 2"/>
          <p:cNvSpPr/>
          <p:nvPr/>
        </p:nvSpPr>
        <p:spPr>
          <a:xfrm>
            <a:off x="640080" y="1371600"/>
            <a:ext cx="10881360" cy="4846320"/>
          </a:xfrm>
          <a:prstGeom prst="roundRect">
            <a:avLst>
              <a:gd name="adj" fmla="val 4000"/>
            </a:avLst>
          </a:prstGeom>
          <a:solidFill>
            <a:srgbClr val="F4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1645920"/>
            <a:ext cx="10149840" cy="4389120"/>
          </a:xfrm>
          <a:prstGeom prst="rect">
            <a:avLst/>
          </a:prstGeom>
          <a:noFill/>
        </p:spPr>
        <p:txBody>
          <a:bodyPr wrap="square">
            <a:spAutoFit/>
          </a:bodyPr>
          <a:lstStyle/>
          <a:p>
            <a:pPr algn="l"/>
            <a:r>
              <a:rPr sz="1400" b="0" i="0">
                <a:solidFill>
                  <a:srgbClr val="22222A"/>
                </a:solidFill>
                <a:latin typeface="Calibri"/>
              </a:rPr>
              <a:t>- Industry: {state['industry']} is a key player in the tech sector, focusing on AI and machine learning advancements. The market covers over $50 billion annually with a compound annual growth rate (CAGR) of 30%.
- Market size: Over $50 billion annually, growing at a CAGR of 30%. Key sectors include healthcare, finance, and retail.
- Growth: Driven by technological advancements and increasing digital transformation efforts. The market is expected to reach over $100 billion by 2025.
- Trends: Emphasizing AI integration, data privacy concerns, and the rise of edge computing technologies are key trends shaping the industry.
- Opportunities: Emerging markets in Asia offer significant growth potential. Collaboration with startups provides a unique opportunity for innovation and market expansion.
- Risks: Data security breaches, regulatory compliance issues, and competition from established players pose challenges to market stability.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457200"/>
            <a:ext cx="10058400" cy="640080"/>
          </a:xfrm>
          <a:prstGeom prst="rect">
            <a:avLst/>
          </a:prstGeom>
          <a:noFill/>
        </p:spPr>
        <p:txBody>
          <a:bodyPr wrap="square">
            <a:spAutoFit/>
          </a:bodyPr>
          <a:lstStyle/>
          <a:p>
            <a:pPr algn="l"/>
            <a:r>
              <a:rPr sz="3200" b="1" i="0">
                <a:solidFill>
                  <a:srgbClr val="1E2761"/>
                </a:solidFill>
                <a:latin typeface="Cambria"/>
              </a:rPr>
              <a:t>Competitive Landscape</a:t>
            </a:r>
          </a:p>
        </p:txBody>
      </p:sp>
      <p:sp>
        <p:nvSpPr>
          <p:cNvPr id="3" name="Rounded Rectangle 2"/>
          <p:cNvSpPr/>
          <p:nvPr/>
        </p:nvSpPr>
        <p:spPr>
          <a:xfrm>
            <a:off x="640080" y="1371600"/>
            <a:ext cx="10881360" cy="4846320"/>
          </a:xfrm>
          <a:prstGeom prst="roundRect">
            <a:avLst>
              <a:gd name="adj" fmla="val 4000"/>
            </a:avLst>
          </a:prstGeom>
          <a:solidFill>
            <a:srgbClr val="F4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1645920"/>
            <a:ext cx="10149840" cy="4389120"/>
          </a:xfrm>
          <a:prstGeom prst="rect">
            <a:avLst/>
          </a:prstGeom>
          <a:noFill/>
        </p:spPr>
        <p:txBody>
          <a:bodyPr wrap="square">
            <a:spAutoFit/>
          </a:bodyPr>
          <a:lstStyle/>
          <a:p>
            <a:pPr algn="l"/>
            <a:r>
              <a:rPr sz="1400" b="0" i="0">
                <a:solidFill>
                  <a:srgbClr val="22222A"/>
                </a:solidFill>
                <a:latin typeface="Calibri"/>
              </a:rPr>
              <a:t>Sure, here are three hypothetical competitors with their strengths and weaknesses:
1. **Competitor A**
   - **Strength:** Advanced AI capabilities for personalized recommendations.
   - **Weakness:** Limited user base compared to industry giants.
2. **Competitor B**
   - **Strength:** Strongest in customer service through 24/7 chat support.
   - **Weakness:** Less advanced data analytics compared to competitors.
3. **Competitor C**
   - **Strength:** Rapid development cycles for new features and updates.
   - **Weakness:** Moderate AI integration, lagging behind in complex tasks.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365760"/>
            <a:ext cx="10058400" cy="640080"/>
          </a:xfrm>
          <a:prstGeom prst="rect">
            <a:avLst/>
          </a:prstGeom>
          <a:noFill/>
        </p:spPr>
        <p:txBody>
          <a:bodyPr wrap="square">
            <a:spAutoFit/>
          </a:bodyPr>
          <a:lstStyle/>
          <a:p>
            <a:pPr algn="l"/>
            <a:r>
              <a:rPr sz="3200" b="1" i="0">
                <a:solidFill>
                  <a:srgbClr val="1E2761"/>
                </a:solidFill>
                <a:latin typeface="Cambria"/>
              </a:rPr>
              <a:t>SWOT Analysis</a:t>
            </a:r>
          </a:p>
        </p:txBody>
      </p:sp>
      <p:sp>
        <p:nvSpPr>
          <p:cNvPr id="3" name="Rounded Rectangle 2"/>
          <p:cNvSpPr/>
          <p:nvPr/>
        </p:nvSpPr>
        <p:spPr>
          <a:xfrm>
            <a:off x="640080" y="1234440"/>
            <a:ext cx="5349240" cy="2331720"/>
          </a:xfrm>
          <a:prstGeom prst="roundRect">
            <a:avLst>
              <a:gd name="adj" fmla="val 4000"/>
            </a:avLst>
          </a:prstGeom>
          <a:solidFill>
            <a:srgbClr val="E3EC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1371600"/>
            <a:ext cx="4892040" cy="365760"/>
          </a:xfrm>
          <a:prstGeom prst="rect">
            <a:avLst/>
          </a:prstGeom>
          <a:noFill/>
        </p:spPr>
        <p:txBody>
          <a:bodyPr wrap="square">
            <a:spAutoFit/>
          </a:bodyPr>
          <a:lstStyle/>
          <a:p>
            <a:pPr algn="l"/>
            <a:r>
              <a:rPr sz="1600" b="1" i="0">
                <a:solidFill>
                  <a:srgbClr val="1E2761"/>
                </a:solidFill>
                <a:latin typeface="Cambria"/>
              </a:rPr>
              <a:t>Strengths</a:t>
            </a:r>
          </a:p>
        </p:txBody>
      </p:sp>
      <p:sp>
        <p:nvSpPr>
          <p:cNvPr id="5" name="TextBox 4"/>
          <p:cNvSpPr txBox="1"/>
          <p:nvPr/>
        </p:nvSpPr>
        <p:spPr>
          <a:xfrm>
            <a:off x="868680" y="1828800"/>
            <a:ext cx="4892040" cy="1645920"/>
          </a:xfrm>
          <a:prstGeom prst="rect">
            <a:avLst/>
          </a:prstGeom>
          <a:noFill/>
        </p:spPr>
        <p:txBody>
          <a:bodyPr wrap="square">
            <a:spAutoFit/>
          </a:bodyPr>
          <a:lstStyle/>
          <a:p/>
        </p:txBody>
      </p:sp>
      <p:sp>
        <p:nvSpPr>
          <p:cNvPr id="6" name="Rounded Rectangle 5"/>
          <p:cNvSpPr/>
          <p:nvPr/>
        </p:nvSpPr>
        <p:spPr>
          <a:xfrm>
            <a:off x="6172200" y="1234440"/>
            <a:ext cx="5349240" cy="2331720"/>
          </a:xfrm>
          <a:prstGeom prst="roundRect">
            <a:avLst>
              <a:gd name="adj" fmla="val 4000"/>
            </a:avLst>
          </a:prstGeom>
          <a:solidFill>
            <a:srgbClr val="FDE9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0" y="1371600"/>
            <a:ext cx="4892040" cy="365760"/>
          </a:xfrm>
          <a:prstGeom prst="rect">
            <a:avLst/>
          </a:prstGeom>
          <a:noFill/>
        </p:spPr>
        <p:txBody>
          <a:bodyPr wrap="square">
            <a:spAutoFit/>
          </a:bodyPr>
          <a:lstStyle/>
          <a:p>
            <a:pPr algn="l"/>
            <a:r>
              <a:rPr sz="1600" b="1" i="0">
                <a:solidFill>
                  <a:srgbClr val="1E2761"/>
                </a:solidFill>
                <a:latin typeface="Cambria"/>
              </a:rPr>
              <a:t>Weaknesses</a:t>
            </a:r>
          </a:p>
        </p:txBody>
      </p:sp>
      <p:sp>
        <p:nvSpPr>
          <p:cNvPr id="8" name="TextBox 7"/>
          <p:cNvSpPr txBox="1"/>
          <p:nvPr/>
        </p:nvSpPr>
        <p:spPr>
          <a:xfrm>
            <a:off x="6400800" y="1828800"/>
            <a:ext cx="4892040" cy="1645920"/>
          </a:xfrm>
          <a:prstGeom prst="rect">
            <a:avLst/>
          </a:prstGeom>
          <a:noFill/>
        </p:spPr>
        <p:txBody>
          <a:bodyPr wrap="square">
            <a:spAutoFit/>
          </a:bodyPr>
          <a:lstStyle/>
          <a:p/>
        </p:txBody>
      </p:sp>
      <p:sp>
        <p:nvSpPr>
          <p:cNvPr id="9" name="Rounded Rectangle 8"/>
          <p:cNvSpPr/>
          <p:nvPr/>
        </p:nvSpPr>
        <p:spPr>
          <a:xfrm>
            <a:off x="640080" y="3749039"/>
            <a:ext cx="5349240" cy="2331720"/>
          </a:xfrm>
          <a:prstGeom prst="roundRect">
            <a:avLst>
              <a:gd name="adj" fmla="val 4000"/>
            </a:avLst>
          </a:prstGeom>
          <a:solidFill>
            <a:srgbClr val="E6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3886199"/>
            <a:ext cx="4892040" cy="365760"/>
          </a:xfrm>
          <a:prstGeom prst="rect">
            <a:avLst/>
          </a:prstGeom>
          <a:noFill/>
        </p:spPr>
        <p:txBody>
          <a:bodyPr wrap="square">
            <a:spAutoFit/>
          </a:bodyPr>
          <a:lstStyle/>
          <a:p>
            <a:pPr algn="l"/>
            <a:r>
              <a:rPr sz="1600" b="1" i="0">
                <a:solidFill>
                  <a:srgbClr val="1E2761"/>
                </a:solidFill>
                <a:latin typeface="Cambria"/>
              </a:rPr>
              <a:t>Opportunities</a:t>
            </a:r>
          </a:p>
        </p:txBody>
      </p:sp>
      <p:sp>
        <p:nvSpPr>
          <p:cNvPr id="11" name="TextBox 10"/>
          <p:cNvSpPr txBox="1"/>
          <p:nvPr/>
        </p:nvSpPr>
        <p:spPr>
          <a:xfrm>
            <a:off x="868680" y="4343399"/>
            <a:ext cx="4892040" cy="1645920"/>
          </a:xfrm>
          <a:prstGeom prst="rect">
            <a:avLst/>
          </a:prstGeom>
          <a:noFill/>
        </p:spPr>
        <p:txBody>
          <a:bodyPr wrap="square">
            <a:spAutoFit/>
          </a:bodyPr>
          <a:lstStyle/>
          <a:p/>
        </p:txBody>
      </p:sp>
      <p:sp>
        <p:nvSpPr>
          <p:cNvPr id="12" name="Rounded Rectangle 11"/>
          <p:cNvSpPr/>
          <p:nvPr/>
        </p:nvSpPr>
        <p:spPr>
          <a:xfrm>
            <a:off x="6172200" y="3749039"/>
            <a:ext cx="5349240" cy="2331720"/>
          </a:xfrm>
          <a:prstGeom prst="roundRect">
            <a:avLst>
              <a:gd name="adj" fmla="val 4000"/>
            </a:avLst>
          </a:prstGeom>
          <a:solidFill>
            <a:srgbClr val="FCF3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0" y="3886199"/>
            <a:ext cx="4892040" cy="365760"/>
          </a:xfrm>
          <a:prstGeom prst="rect">
            <a:avLst/>
          </a:prstGeom>
          <a:noFill/>
        </p:spPr>
        <p:txBody>
          <a:bodyPr wrap="square">
            <a:spAutoFit/>
          </a:bodyPr>
          <a:lstStyle/>
          <a:p>
            <a:pPr algn="l"/>
            <a:r>
              <a:rPr sz="1600" b="1" i="0">
                <a:solidFill>
                  <a:srgbClr val="1E2761"/>
                </a:solidFill>
                <a:latin typeface="Cambria"/>
              </a:rPr>
              <a:t>Threats</a:t>
            </a:r>
          </a:p>
        </p:txBody>
      </p:sp>
      <p:sp>
        <p:nvSpPr>
          <p:cNvPr id="14" name="TextBox 13"/>
          <p:cNvSpPr txBox="1"/>
          <p:nvPr/>
        </p:nvSpPr>
        <p:spPr>
          <a:xfrm>
            <a:off x="6400800" y="4343399"/>
            <a:ext cx="4892040" cy="1645920"/>
          </a:xfrm>
          <a:prstGeom prst="rect">
            <a:avLst/>
          </a:prstGeom>
          <a:noFill/>
        </p:spPr>
        <p:txBody>
          <a:bodyPr wrap="square">
            <a:spAutoFit/>
          </a:bodyPr>
          <a:lstStyle/>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457200"/>
            <a:ext cx="10058400" cy="640080"/>
          </a:xfrm>
          <a:prstGeom prst="rect">
            <a:avLst/>
          </a:prstGeom>
          <a:noFill/>
        </p:spPr>
        <p:txBody>
          <a:bodyPr wrap="square">
            <a:spAutoFit/>
          </a:bodyPr>
          <a:lstStyle/>
          <a:p>
            <a:pPr algn="l"/>
            <a:r>
              <a:rPr sz="3200" b="1" i="0">
                <a:solidFill>
                  <a:srgbClr val="1E2761"/>
                </a:solidFill>
                <a:latin typeface="Cambria"/>
              </a:rPr>
              <a:t>Financial Projections</a:t>
            </a:r>
          </a:p>
        </p:txBody>
      </p:sp>
      <p:sp>
        <p:nvSpPr>
          <p:cNvPr id="3" name="Rounded Rectangle 2"/>
          <p:cNvSpPr/>
          <p:nvPr/>
        </p:nvSpPr>
        <p:spPr>
          <a:xfrm>
            <a:off x="640080" y="1371600"/>
            <a:ext cx="10881360" cy="4846320"/>
          </a:xfrm>
          <a:prstGeom prst="roundRect">
            <a:avLst>
              <a:gd name="adj" fmla="val 4000"/>
            </a:avLst>
          </a:prstGeom>
          <a:solidFill>
            <a:srgbClr val="F4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1645920"/>
            <a:ext cx="10149840" cy="4389120"/>
          </a:xfrm>
          <a:prstGeom prst="rect">
            <a:avLst/>
          </a:prstGeom>
          <a:noFill/>
        </p:spPr>
        <p:txBody>
          <a:bodyPr wrap="square">
            <a:spAutoFit/>
          </a:bodyPr>
          <a:lstStyle/>
          <a:p>
            <a:pPr algn="l"/>
            <a:r>
              <a:rPr sz="1400" b="0" i="0">
                <a:solidFill>
                  <a:srgbClr val="22222A"/>
                </a:solidFill>
                <a:latin typeface="Calibri"/>
              </a:rPr>
              <a:t>### Financial Estimations
- **Initial Investment**: $5 million for R&amp;D and infrastructure setup.
- **Year 1 Revenue**: $2 million from pilot projects and early adopters.
- **Break-even**: Year 3, with projected revenue growing to $8 million.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365760"/>
            <a:ext cx="10058400" cy="640080"/>
          </a:xfrm>
          <a:prstGeom prst="rect">
            <a:avLst/>
          </a:prstGeom>
          <a:noFill/>
        </p:spPr>
        <p:txBody>
          <a:bodyPr wrap="square">
            <a:spAutoFit/>
          </a:bodyPr>
          <a:lstStyle/>
          <a:p>
            <a:pPr algn="l"/>
            <a:r>
              <a:rPr sz="3200" b="1" i="0">
                <a:solidFill>
                  <a:srgbClr val="1E2761"/>
                </a:solidFill>
                <a:latin typeface="Cambria"/>
              </a:rPr>
              <a:t>Recommendations</a:t>
            </a:r>
          </a:p>
        </p:txBody>
      </p:sp>
      <p:sp>
        <p:nvSpPr>
          <p:cNvPr id="3" name="Rounded Rectangle 2"/>
          <p:cNvSpPr/>
          <p:nvPr/>
        </p:nvSpPr>
        <p:spPr>
          <a:xfrm>
            <a:off x="640080" y="1371600"/>
            <a:ext cx="10881360" cy="1188720"/>
          </a:xfrm>
          <a:prstGeom prst="roundRect">
            <a:avLst>
              <a:gd name="adj" fmla="val 4000"/>
            </a:avLst>
          </a:prstGeom>
          <a:solidFill>
            <a:srgbClr val="F4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508760"/>
            <a:ext cx="640080" cy="914400"/>
          </a:xfrm>
          <a:prstGeom prst="rect">
            <a:avLst/>
          </a:prstGeom>
          <a:noFill/>
        </p:spPr>
        <p:txBody>
          <a:bodyPr wrap="square">
            <a:spAutoFit/>
          </a:bodyPr>
          <a:lstStyle/>
          <a:p>
            <a:pPr algn="l"/>
            <a:r>
              <a:rPr sz="2800" b="1" i="0">
                <a:solidFill>
                  <a:srgbClr val="1E2761"/>
                </a:solidFill>
                <a:latin typeface="Cambria"/>
              </a:rPr>
              <a:t>1</a:t>
            </a:r>
          </a:p>
        </p:txBody>
      </p:sp>
      <p:sp>
        <p:nvSpPr>
          <p:cNvPr id="5" name="TextBox 4"/>
          <p:cNvSpPr txBox="1"/>
          <p:nvPr/>
        </p:nvSpPr>
        <p:spPr>
          <a:xfrm>
            <a:off x="1554480" y="1508760"/>
            <a:ext cx="9784080" cy="914400"/>
          </a:xfrm>
          <a:prstGeom prst="rect">
            <a:avLst/>
          </a:prstGeom>
          <a:noFill/>
        </p:spPr>
        <p:txBody>
          <a:bodyPr wrap="square" anchor="ctr">
            <a:spAutoFit/>
          </a:bodyPr>
          <a:lstStyle/>
          <a:p>
            <a:pPr algn="l"/>
            <a:r>
              <a:rPr sz="1300" b="0" i="0">
                <a:solidFill>
                  <a:srgbClr val="22222A"/>
                </a:solidFill>
                <a:latin typeface="Calibri"/>
              </a:rPr>
              <a:t>Certainly! Here is a polished version of your Executive Summary, Recommendations, Research Overview, Competitors Analysis, SWOT Analysis, and Financial Estimations:
---
### EXECUTIVE SUMMARY
The tech sector's focus on AI and machine learning advancements has established the industry as a key player in the market. With an annual market size exceeding $50 billion and a compound annual growth rate (CAGR) of 30%, the industry is poised to reach over $100 billion by 2025, driven by technological advancements and digital transformation efforts across healthcare, finance, and retail sectors.
Key trends include AI integration, data privacy concerns, and the rise of edge computing technologies. Emerging markets in Asia offer significant growth potential, while collaboration with startups presents a unique opportunity for innovation and market expansion. However, challenges such as data security breaches, regulatory compliance issues, and competition from established players pose risks to market stability.
### RECOMMENDATIONS</a:t>
            </a:r>
          </a:p>
        </p:txBody>
      </p:sp>
      <p:sp>
        <p:nvSpPr>
          <p:cNvPr id="6" name="Rounded Rectangle 5"/>
          <p:cNvSpPr/>
          <p:nvPr/>
        </p:nvSpPr>
        <p:spPr>
          <a:xfrm>
            <a:off x="640080" y="2761488"/>
            <a:ext cx="10881360" cy="1188720"/>
          </a:xfrm>
          <a:prstGeom prst="roundRect">
            <a:avLst>
              <a:gd name="adj" fmla="val 4000"/>
            </a:avLst>
          </a:prstGeom>
          <a:solidFill>
            <a:srgbClr val="F4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898648"/>
            <a:ext cx="640080" cy="914400"/>
          </a:xfrm>
          <a:prstGeom prst="rect">
            <a:avLst/>
          </a:prstGeom>
          <a:noFill/>
        </p:spPr>
        <p:txBody>
          <a:bodyPr wrap="square">
            <a:spAutoFit/>
          </a:bodyPr>
          <a:lstStyle/>
          <a:p>
            <a:pPr algn="l"/>
            <a:r>
              <a:rPr sz="2800" b="1" i="0">
                <a:solidFill>
                  <a:srgbClr val="1E2761"/>
                </a:solidFill>
                <a:latin typeface="Cambria"/>
              </a:rPr>
              <a:t>2</a:t>
            </a:r>
          </a:p>
        </p:txBody>
      </p:sp>
      <p:sp>
        <p:nvSpPr>
          <p:cNvPr id="8" name="TextBox 7"/>
          <p:cNvSpPr txBox="1"/>
          <p:nvPr/>
        </p:nvSpPr>
        <p:spPr>
          <a:xfrm>
            <a:off x="1554480" y="2898648"/>
            <a:ext cx="9784080" cy="914400"/>
          </a:xfrm>
          <a:prstGeom prst="rect">
            <a:avLst/>
          </a:prstGeom>
          <a:noFill/>
        </p:spPr>
        <p:txBody>
          <a:bodyPr wrap="square" anchor="ctr">
            <a:spAutoFit/>
          </a:bodyPr>
          <a:lstStyle/>
          <a:p>
            <a:pPr algn="l"/>
            <a:r>
              <a:rPr sz="1300" b="0" i="0">
                <a:solidFill>
                  <a:srgbClr val="22222A"/>
                </a:solidFill>
                <a:latin typeface="Calibri"/>
              </a:rPr>
              <a:t>**Strategic Focus on AI Integration**: Leverage advanced AI capabilities to offer personalized recommendations and services.</a:t>
            </a:r>
          </a:p>
        </p:txBody>
      </p:sp>
      <p:sp>
        <p:nvSpPr>
          <p:cNvPr id="9" name="Rounded Rectangle 8"/>
          <p:cNvSpPr/>
          <p:nvPr/>
        </p:nvSpPr>
        <p:spPr>
          <a:xfrm>
            <a:off x="640080" y="4151376"/>
            <a:ext cx="10881360" cy="1188720"/>
          </a:xfrm>
          <a:prstGeom prst="roundRect">
            <a:avLst>
              <a:gd name="adj" fmla="val 4000"/>
            </a:avLst>
          </a:prstGeom>
          <a:solidFill>
            <a:srgbClr val="F4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4288536"/>
            <a:ext cx="640080" cy="914400"/>
          </a:xfrm>
          <a:prstGeom prst="rect">
            <a:avLst/>
          </a:prstGeom>
          <a:noFill/>
        </p:spPr>
        <p:txBody>
          <a:bodyPr wrap="square">
            <a:spAutoFit/>
          </a:bodyPr>
          <a:lstStyle/>
          <a:p>
            <a:pPr algn="l"/>
            <a:r>
              <a:rPr sz="2800" b="1" i="0">
                <a:solidFill>
                  <a:srgbClr val="1E2761"/>
                </a:solidFill>
                <a:latin typeface="Cambria"/>
              </a:rPr>
              <a:t>3</a:t>
            </a:r>
          </a:p>
        </p:txBody>
      </p:sp>
      <p:sp>
        <p:nvSpPr>
          <p:cNvPr id="11" name="TextBox 10"/>
          <p:cNvSpPr txBox="1"/>
          <p:nvPr/>
        </p:nvSpPr>
        <p:spPr>
          <a:xfrm>
            <a:off x="1554480" y="4288536"/>
            <a:ext cx="9784080" cy="914400"/>
          </a:xfrm>
          <a:prstGeom prst="rect">
            <a:avLst/>
          </a:prstGeom>
          <a:noFill/>
        </p:spPr>
        <p:txBody>
          <a:bodyPr wrap="square" anchor="ctr">
            <a:spAutoFit/>
          </a:bodyPr>
          <a:lstStyle/>
          <a:p>
            <a:pPr algn="l"/>
            <a:r>
              <a:rPr sz="1300" b="0" i="0">
                <a:solidFill>
                  <a:srgbClr val="22222A"/>
                </a:solidFill>
                <a:latin typeface="Calibri"/>
              </a:rPr>
              <a:t>**Enhanced Data Privacy Measures**: Implement robust data privacy protocols to mitigate concerns and maintain customer trust.</a:t>
            </a:r>
          </a:p>
        </p:txBody>
      </p:sp>
      <p:sp>
        <p:nvSpPr>
          <p:cNvPr id="12" name="Rounded Rectangle 11"/>
          <p:cNvSpPr/>
          <p:nvPr/>
        </p:nvSpPr>
        <p:spPr>
          <a:xfrm>
            <a:off x="640080" y="5541264"/>
            <a:ext cx="10881360" cy="1188720"/>
          </a:xfrm>
          <a:prstGeom prst="roundRect">
            <a:avLst>
              <a:gd name="adj" fmla="val 4000"/>
            </a:avLst>
          </a:prstGeom>
          <a:solidFill>
            <a:srgbClr val="F4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14400" y="5678424"/>
            <a:ext cx="640080" cy="914400"/>
          </a:xfrm>
          <a:prstGeom prst="rect">
            <a:avLst/>
          </a:prstGeom>
          <a:noFill/>
        </p:spPr>
        <p:txBody>
          <a:bodyPr wrap="square">
            <a:spAutoFit/>
          </a:bodyPr>
          <a:lstStyle/>
          <a:p>
            <a:pPr algn="l"/>
            <a:r>
              <a:rPr sz="2800" b="1" i="0">
                <a:solidFill>
                  <a:srgbClr val="1E2761"/>
                </a:solidFill>
                <a:latin typeface="Cambria"/>
              </a:rPr>
              <a:t>4</a:t>
            </a:r>
          </a:p>
        </p:txBody>
      </p:sp>
      <p:sp>
        <p:nvSpPr>
          <p:cNvPr id="14" name="TextBox 13"/>
          <p:cNvSpPr txBox="1"/>
          <p:nvPr/>
        </p:nvSpPr>
        <p:spPr>
          <a:xfrm>
            <a:off x="1554480" y="5678424"/>
            <a:ext cx="9784080" cy="914400"/>
          </a:xfrm>
          <a:prstGeom prst="rect">
            <a:avLst/>
          </a:prstGeom>
          <a:noFill/>
        </p:spPr>
        <p:txBody>
          <a:bodyPr wrap="square" anchor="ctr">
            <a:spAutoFit/>
          </a:bodyPr>
          <a:lstStyle/>
          <a:p>
            <a:pPr algn="l"/>
            <a:r>
              <a:rPr sz="1300" b="0" i="0">
                <a:solidFill>
                  <a:srgbClr val="22222A"/>
                </a:solidFill>
                <a:latin typeface="Calibri"/>
              </a:rPr>
              <a:t>**Compliance with Regulatory Requirements**: Stay abreast of regulatory changes to ensure compliance and avoid penalties or disruptions.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1E2761"/>
        </a:solidFill>
        <a:effectLst/>
      </p:bgPr>
    </p:bg>
    <p:spTree>
      <p:nvGrpSpPr>
        <p:cNvPr id="1" name=""/>
        <p:cNvGrpSpPr/>
        <p:nvPr/>
      </p:nvGrpSpPr>
      <p:grpSpPr/>
      <p:sp>
        <p:nvSpPr>
          <p:cNvPr id="2" name="TextBox 1"/>
          <p:cNvSpPr txBox="1"/>
          <p:nvPr/>
        </p:nvSpPr>
        <p:spPr>
          <a:xfrm>
            <a:off x="914400" y="2834640"/>
            <a:ext cx="10332720" cy="914400"/>
          </a:xfrm>
          <a:prstGeom prst="rect">
            <a:avLst/>
          </a:prstGeom>
          <a:noFill/>
        </p:spPr>
        <p:txBody>
          <a:bodyPr wrap="square">
            <a:spAutoFit/>
          </a:bodyPr>
          <a:lstStyle/>
          <a:p>
            <a:pPr algn="l"/>
            <a:r>
              <a:rPr sz="4000" b="1" i="0">
                <a:solidFill>
                  <a:srgbClr val="FFFFFF"/>
                </a:solidFill>
                <a:latin typeface="Cambria"/>
              </a:rPr>
              <a:t>Thank You</a:t>
            </a:r>
          </a:p>
        </p:txBody>
      </p:sp>
      <p:sp>
        <p:nvSpPr>
          <p:cNvPr id="3" name="TextBox 2"/>
          <p:cNvSpPr txBox="1"/>
          <p:nvPr/>
        </p:nvSpPr>
        <p:spPr>
          <a:xfrm>
            <a:off x="914400" y="3657600"/>
            <a:ext cx="10332720" cy="548640"/>
          </a:xfrm>
          <a:prstGeom prst="rect">
            <a:avLst/>
          </a:prstGeom>
          <a:noFill/>
        </p:spPr>
        <p:txBody>
          <a:bodyPr wrap="square">
            <a:spAutoFit/>
          </a:bodyPr>
          <a:lstStyle/>
          <a:p>
            <a:pPr algn="l"/>
            <a:r>
              <a:rPr sz="1400" b="0" i="0">
                <a:solidFill>
                  <a:srgbClr val="CADCFC"/>
                </a:solidFill>
                <a:latin typeface="Calibri"/>
              </a:rPr>
              <a:t>Prepared by the AI Consultant Agent Team for Food Manufacturing entry into USA</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