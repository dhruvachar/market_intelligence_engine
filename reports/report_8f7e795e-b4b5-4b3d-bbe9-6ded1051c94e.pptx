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solidFill>
            <a:srgbClr val="121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ADCFC"/>
                </a:solidFill>
                <a:latin typeface="Calibri"/>
              </a:rPr>
              <a:t>AI CONSULTANT AGENT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Market Entry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461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CADCFC"/>
                </a:solidFill>
                <a:latin typeface="Calibri"/>
              </a:rPr>
              <a:t>Electric Vehicles  · 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CADCFC"/>
                </a:solidFill>
                <a:latin typeface="Calibri"/>
              </a:rPr>
              <a:t>Prepared by the Market Intelligence, Strategy, and Executive Advisory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484632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E2761"/>
                </a:solidFill>
                <a:latin typeface="Cambria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88696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37A"/>
                </a:solidFill>
                <a:latin typeface="Calibri"/>
              </a:rPr>
              <a:t>The opportunity, the strategy, and the call to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1094415" cy="3017520"/>
          </a:xfrm>
          <a:prstGeom prst="roundRect">
            <a:avLst>
              <a:gd name="adj" fmla="val 4500"/>
            </a:avLst>
          </a:prstGeom>
          <a:solidFill>
            <a:srgbClr val="F6F8FD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62895" cy="2468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B1E2B"/>
                </a:solidFill>
                <a:latin typeface="Calibri"/>
              </a:rPr>
              <a:t>India's growing demand for eco-friendly transportation presents a lucrative market opportunity. Partnering with Tata Motors will leverage their affordable electric models to capitalize on government subsidies and urban congestion issues, while addressing initial cost concerns through strategic partnerships.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800600"/>
            <a:ext cx="3383280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96519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37A"/>
                </a:solidFill>
                <a:latin typeface="Calibri"/>
              </a:rPr>
              <a:t>INITIAL INVESTMENT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A5CC8"/>
                </a:solidFill>
                <a:latin typeface="Cambria"/>
              </a:rPr>
              <a:t>$2.5M - $4M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4800600"/>
            <a:ext cx="3383280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496519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37A"/>
                </a:solidFill>
                <a:latin typeface="Calibri"/>
              </a:rPr>
              <a:t>YEAR 1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530352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E8253"/>
                </a:solidFill>
                <a:latin typeface="Cambria"/>
              </a:rPr>
              <a:t>$1.8M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4800600"/>
            <a:ext cx="3383280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96519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37A"/>
                </a:solidFill>
                <a:latin typeface="Calibri"/>
              </a:rPr>
              <a:t>BREAKEVEN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30352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A87312"/>
                </a:solidFill>
                <a:latin typeface="Cambria"/>
              </a:rPr>
              <a:t>18-24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A"/>
                </a:solidFill>
                <a:latin typeface="Calibri"/>
              </a:rPr>
              <a:t>Executive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A"/>
                </a:solidFill>
                <a:latin typeface="Calibri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420624" cy="420624"/>
          </a:xfrm>
          <a:prstGeom prst="ellipse">
            <a:avLst/>
          </a:prstGeom>
          <a:solidFill>
            <a:srgbClr val="2A5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484632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E2761"/>
                </a:solidFill>
                <a:latin typeface="Cambria"/>
              </a:rPr>
              <a:t>Market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88696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37A"/>
                </a:solidFill>
                <a:latin typeface="Calibri"/>
              </a:rPr>
              <a:t>Current market size of 50,000 electric vehicles; projected to reach 1.2 million by 2025.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943600" cy="4754880"/>
          </a:xfrm>
          <a:prstGeom prst="roundRect">
            <a:avLst>
              <a:gd name="adj" fmla="val 4500"/>
            </a:avLst>
          </a:prstGeom>
          <a:solidFill>
            <a:srgbClr val="F6F8FD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B637A"/>
                </a:solidFill>
                <a:latin typeface="Calibri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530352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B1E2B"/>
                </a:solidFill>
                <a:latin typeface="Calibri"/>
              </a:rPr>
              <a:t>Growing demand for eco-friendly transportation in India's urban centers.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B637A"/>
                </a:solidFill>
                <a:latin typeface="Calibri"/>
              </a:rPr>
              <a:t>GROWTH TRENDS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80"/>
            <a:ext cx="530352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E8253"/>
                </a:solidFill>
                <a:latin typeface="Calibri"/>
              </a:rPr>
              <a:t>↗  </a:t>
            </a:r>
            <a:r>
              <a:rPr sz="1350" b="0">
                <a:solidFill>
                  <a:srgbClr val="1B1E2B"/>
                </a:solidFill>
                <a:latin typeface="Calibri"/>
              </a:rPr>
              <a:t>Electric vehicle adoption increasing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E8253"/>
                </a:solidFill>
                <a:latin typeface="Calibri"/>
              </a:rPr>
              <a:t>↗  </a:t>
            </a:r>
            <a:r>
              <a:rPr sz="1350" b="0">
                <a:solidFill>
                  <a:srgbClr val="1B1E2B"/>
                </a:solidFill>
                <a:latin typeface="Calibri"/>
              </a:rPr>
              <a:t>Government incentives driving growth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E8253"/>
                </a:solidFill>
                <a:latin typeface="Calibri"/>
              </a:rPr>
              <a:t>↗  </a:t>
            </a:r>
            <a:r>
              <a:rPr sz="1350" b="0">
                <a:solidFill>
                  <a:srgbClr val="1B1E2B"/>
                </a:solidFill>
                <a:latin typeface="Calibri"/>
              </a:rPr>
              <a:t>Urban pollution concerns boost interest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645920"/>
            <a:ext cx="47850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B637A"/>
                </a:solidFill>
                <a:latin typeface="Calibri"/>
              </a:rPr>
              <a:t>TOP COMPETITORS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0" y="1965960"/>
          <a:ext cx="4785055" cy="19659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54480"/>
                <a:gridCol w="3230575"/>
              </a:tblGrid>
              <a:tr h="49149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B1E2B"/>
                          </a:solidFill>
                          <a:latin typeface="Calibri"/>
                        </a:rPr>
                        <a:t>Tata Motors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B1E2B"/>
                          </a:solidFill>
                          <a:latin typeface="Calibri"/>
                        </a:rPr>
                        <a:t>Leading manufacturer with affordable electric models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B1E2B"/>
                          </a:solidFill>
                          <a:latin typeface="Calibri"/>
                        </a:rPr>
                        <a:t>Hyundai Motor Company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B1E2B"/>
                          </a:solidFill>
                          <a:latin typeface="Calibri"/>
                        </a:rPr>
                        <a:t>Established brand with advanced technology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B1E2B"/>
                          </a:solidFill>
                          <a:latin typeface="Calibri"/>
                        </a:rPr>
                        <a:t>BYD India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B1E2B"/>
                          </a:solidFill>
                          <a:latin typeface="Calibri"/>
                        </a:rPr>
                        <a:t>Growing presence in the Indian market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0" y="4251960"/>
            <a:ext cx="2255367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B637A"/>
                </a:solidFill>
                <a:latin typeface="Calibri"/>
              </a:rPr>
              <a:t>OPPORTUNITIES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44568"/>
            <a:ext cx="2255367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E8253"/>
                </a:solidFill>
                <a:latin typeface="Calibri"/>
              </a:rPr>
              <a:t>+  </a:t>
            </a:r>
            <a:r>
              <a:rPr sz="1150" b="0">
                <a:solidFill>
                  <a:srgbClr val="1B1E2B"/>
                </a:solidFill>
                <a:latin typeface="Calibri"/>
              </a:rPr>
              <a:t>Government subsidies for EVs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E8253"/>
                </a:solidFill>
                <a:latin typeface="Calibri"/>
              </a:rPr>
              <a:t>+  </a:t>
            </a:r>
            <a:r>
              <a:rPr sz="1150" b="0">
                <a:solidFill>
                  <a:srgbClr val="1B1E2B"/>
                </a:solidFill>
                <a:latin typeface="Calibri"/>
              </a:rPr>
              <a:t>Urban congestion issues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E8253"/>
                </a:solidFill>
                <a:latin typeface="Calibri"/>
              </a:rPr>
              <a:t>+  </a:t>
            </a:r>
            <a:r>
              <a:rPr sz="1150" b="0">
                <a:solidFill>
                  <a:srgbClr val="1B1E2B"/>
                </a:solidFill>
                <a:latin typeface="Calibri"/>
              </a:rPr>
              <a:t>Rising awareness of environmental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87687" y="4251960"/>
            <a:ext cx="2255367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B637A"/>
                </a:solidFill>
                <a:latin typeface="Calibri"/>
              </a:rPr>
              <a:t>RISKS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87687" y="4544568"/>
            <a:ext cx="2255367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B83939"/>
                </a:solidFill>
                <a:latin typeface="Calibri"/>
              </a:rPr>
              <a:t>!  </a:t>
            </a:r>
            <a:r>
              <a:rPr sz="1150" b="0">
                <a:solidFill>
                  <a:srgbClr val="1B1E2B"/>
                </a:solidFill>
                <a:latin typeface="Calibri"/>
              </a:rPr>
              <a:t>High initial cost to consumers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B83939"/>
                </a:solidFill>
                <a:latin typeface="Calibri"/>
              </a:rPr>
              <a:t>!  </a:t>
            </a:r>
            <a:r>
              <a:rPr sz="1150" b="0">
                <a:solidFill>
                  <a:srgbClr val="1B1E2B"/>
                </a:solidFill>
                <a:latin typeface="Calibri"/>
              </a:rPr>
              <a:t>Charging infrastructure limitations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B83939"/>
                </a:solidFill>
                <a:latin typeface="Calibri"/>
              </a:rPr>
              <a:t>!  </a:t>
            </a:r>
            <a:r>
              <a:rPr sz="1150" b="0">
                <a:solidFill>
                  <a:srgbClr val="1B1E2B"/>
                </a:solidFill>
                <a:latin typeface="Calibri"/>
              </a:rPr>
              <a:t>Technological obsolescence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A"/>
                </a:solidFill>
                <a:latin typeface="Calibri"/>
              </a:rPr>
              <a:t>Market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A"/>
                </a:solidFill>
                <a:latin typeface="Calibri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484632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E2761"/>
                </a:solidFill>
                <a:latin typeface="Cambria"/>
              </a:rPr>
              <a:t>Strategy — 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88696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37A"/>
                </a:solidFill>
                <a:latin typeface="Calibri"/>
              </a:rPr>
              <a:t>Internal strengths/weaknesses and external opportunities/threats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40680" cy="2286000"/>
          </a:xfrm>
          <a:prstGeom prst="roundRect">
            <a:avLst>
              <a:gd name="adj" fmla="val 4500"/>
            </a:avLst>
          </a:prstGeom>
          <a:solidFill>
            <a:srgbClr val="ECF7F0"/>
          </a:solidFill>
          <a:ln w="9525">
            <a:solidFill>
              <a:srgbClr val="1E8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8253"/>
                </a:solidFill>
                <a:latin typeface="Calibri"/>
              </a:rP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4892040" cy="1508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E8253"/>
                </a:solidFill>
                <a:latin typeface="Calibri"/>
              </a:rPr>
              <a:t>•  </a:t>
            </a:r>
            <a:r>
              <a:rPr sz="1200" b="0">
                <a:solidFill>
                  <a:srgbClr val="1B1E2B"/>
                </a:solidFill>
                <a:latin typeface="Calibri"/>
              </a:rPr>
              <a:t>Affordable electric models from Tata Motors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63040"/>
            <a:ext cx="5440680" cy="2286000"/>
          </a:xfrm>
          <a:prstGeom prst="roundRect">
            <a:avLst>
              <a:gd name="adj" fmla="val 4500"/>
            </a:avLst>
          </a:prstGeom>
          <a:solidFill>
            <a:srgbClr val="FBECEC"/>
          </a:solidFill>
          <a:ln w="9525">
            <a:solidFill>
              <a:srgbClr val="B839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B83939"/>
                </a:solidFill>
                <a:latin typeface="Calibri"/>
              </a:rPr>
              <a:t>WEAKNESSES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57400"/>
            <a:ext cx="4892040" cy="1508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B83939"/>
                </a:solidFill>
                <a:latin typeface="Calibri"/>
              </a:rPr>
              <a:t>•  </a:t>
            </a:r>
            <a:r>
              <a:rPr sz="1200" b="0">
                <a:solidFill>
                  <a:srgbClr val="1B1E2B"/>
                </a:solidFill>
                <a:latin typeface="Calibri"/>
              </a:rPr>
              <a:t>High initial cost to consumers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23360"/>
            <a:ext cx="5440680" cy="2286000"/>
          </a:xfrm>
          <a:prstGeom prst="roundRect">
            <a:avLst>
              <a:gd name="adj" fmla="val 4500"/>
            </a:avLst>
          </a:prstGeom>
          <a:solidFill>
            <a:srgbClr val="EAF1FC"/>
          </a:solidFill>
          <a:ln w="9525">
            <a:solidFill>
              <a:srgbClr val="2A5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A5CC8"/>
                </a:solidFill>
                <a:latin typeface="Calibri"/>
              </a:rPr>
              <a:t>OPPORTUNITIES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4892040" cy="1508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2A5CC8"/>
                </a:solidFill>
                <a:latin typeface="Calibri"/>
              </a:rPr>
              <a:t>•  </a:t>
            </a:r>
            <a:r>
              <a:rPr sz="1200" b="0">
                <a:solidFill>
                  <a:srgbClr val="1B1E2B"/>
                </a:solidFill>
                <a:latin typeface="Calibri"/>
              </a:rPr>
              <a:t>Government subsidies for EVs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2A5CC8"/>
                </a:solidFill>
                <a:latin typeface="Calibri"/>
              </a:rPr>
              <a:t>•  </a:t>
            </a:r>
            <a:r>
              <a:rPr sz="1200" b="0">
                <a:solidFill>
                  <a:srgbClr val="1B1E2B"/>
                </a:solidFill>
                <a:latin typeface="Calibri"/>
              </a:rPr>
              <a:t>Urban congestion issues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2A5CC8"/>
                </a:solidFill>
                <a:latin typeface="Calibri"/>
              </a:rPr>
              <a:t>•  </a:t>
            </a:r>
            <a:r>
              <a:rPr sz="1200" b="0">
                <a:solidFill>
                  <a:srgbClr val="1B1E2B"/>
                </a:solidFill>
                <a:latin typeface="Calibri"/>
              </a:rPr>
              <a:t>Rising awareness of environmental impact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023360"/>
            <a:ext cx="5440680" cy="2286000"/>
          </a:xfrm>
          <a:prstGeom prst="roundRect">
            <a:avLst>
              <a:gd name="adj" fmla="val 4500"/>
            </a:avLst>
          </a:prstGeom>
          <a:solidFill>
            <a:srgbClr val="FCF3E3"/>
          </a:solidFill>
          <a:ln w="9525">
            <a:solidFill>
              <a:srgbClr val="A873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20624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A87312"/>
                </a:solidFill>
                <a:latin typeface="Calibri"/>
              </a:rPr>
              <a:t>THREATS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617720"/>
            <a:ext cx="4892040" cy="1508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A87312"/>
                </a:solidFill>
                <a:latin typeface="Calibri"/>
              </a:rPr>
              <a:t>•  </a:t>
            </a:r>
            <a:r>
              <a:rPr sz="1200" b="0">
                <a:solidFill>
                  <a:srgbClr val="1B1E2B"/>
                </a:solidFill>
                <a:latin typeface="Calibri"/>
              </a:rPr>
              <a:t>Technological obsolescence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484632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E2761"/>
                </a:solidFill>
                <a:latin typeface="Cambria"/>
              </a:rPr>
              <a:t>Market Entry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88696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37A"/>
                </a:solidFill>
                <a:latin typeface="Calibri"/>
              </a:rPr>
              <a:t>Actionable steps to enter and scale in this 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94415" cy="960120"/>
          </a:xfrm>
          <a:prstGeom prst="roundRect">
            <a:avLst>
              <a:gd name="adj" fmla="val 4500"/>
            </a:avLst>
          </a:prstGeom>
          <a:solidFill>
            <a:srgbClr val="F6F8FD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54480"/>
            <a:ext cx="9722815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B1E2B"/>
                </a:solidFill>
                <a:latin typeface="Calibri"/>
              </a:rPr>
              <a:t>Partner with Tata Motors for market entry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420624" cy="420624"/>
          </a:xfrm>
          <a:prstGeom prst="ellipse">
            <a:avLst/>
          </a:prstGeom>
          <a:solidFill>
            <a:srgbClr val="1E8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$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484632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E2761"/>
                </a:solidFill>
                <a:latin typeface="Cambria"/>
              </a:rPr>
              <a:t>Financial Estimate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88696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37A"/>
                </a:solidFill>
                <a:latin typeface="Calibri"/>
              </a:rPr>
              <a:t>Investment, revenue outlook, and path to breakeven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3383280" cy="1371600"/>
          </a:xfrm>
          <a:prstGeom prst="roundRect">
            <a:avLst>
              <a:gd name="adj" fmla="val 4500"/>
            </a:avLst>
          </a:prstGeom>
          <a:solidFill>
            <a:srgbClr val="F6F8FD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7335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37A"/>
                </a:solidFill>
                <a:latin typeface="Calibri"/>
              </a:rPr>
              <a:t>INITIAL INVESTMENT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A5CC8"/>
                </a:solidFill>
                <a:latin typeface="Cambria"/>
              </a:rPr>
              <a:t>$2.5M - $4M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508760"/>
            <a:ext cx="3383280" cy="1371600"/>
          </a:xfrm>
          <a:prstGeom prst="roundRect">
            <a:avLst>
              <a:gd name="adj" fmla="val 4500"/>
            </a:avLst>
          </a:prstGeom>
          <a:solidFill>
            <a:srgbClr val="F6F8FD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7335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37A"/>
                </a:solidFill>
                <a:latin typeface="Calibri"/>
              </a:rPr>
              <a:t>YEAR 1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01168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E8253"/>
                </a:solidFill>
                <a:latin typeface="Cambria"/>
              </a:rPr>
              <a:t>$1.8M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508760"/>
            <a:ext cx="3383280" cy="1371600"/>
          </a:xfrm>
          <a:prstGeom prst="roundRect">
            <a:avLst>
              <a:gd name="adj" fmla="val 4500"/>
            </a:avLst>
          </a:prstGeom>
          <a:solidFill>
            <a:srgbClr val="F6F8FD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7335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37A"/>
                </a:solidFill>
                <a:latin typeface="Calibri"/>
              </a:rPr>
              <a:t>BREAKEVEN TIMELINE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A87312"/>
                </a:solidFill>
                <a:latin typeface="Cambria"/>
              </a:rPr>
              <a:t>18-24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B637A"/>
                </a:solidFill>
                <a:latin typeface="Calibri"/>
              </a:rPr>
              <a:t>REVENUE PROJECTION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3200400"/>
          <a:ext cx="4206240" cy="19659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28800"/>
                <a:gridCol w="2377440"/>
              </a:tblGrid>
              <a:tr h="49149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1E2B"/>
                          </a:solidFill>
                          <a:latin typeface="Calibri"/>
                        </a:rPr>
                        <a:t>Year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1E2B"/>
                          </a:solidFill>
                          <a:latin typeface="Calibri"/>
                        </a:rPr>
                        <a:t>estimate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1E2B"/>
                          </a:solidFill>
                          <a:latin typeface="Calibri"/>
                        </a:rPr>
                        <a:t>Year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1E2B"/>
                          </a:solidFill>
                          <a:latin typeface="Calibri"/>
                        </a:rPr>
                        <a:t>estimate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1E2B"/>
                          </a:solidFill>
                          <a:latin typeface="Calibri"/>
                        </a:rPr>
                        <a:t>Year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1E2B"/>
                          </a:solidFill>
                          <a:latin typeface="Calibri"/>
                        </a:rPr>
                        <a:t>estimate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5486400" y="32461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A5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24612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1E2B"/>
                </a:solidFill>
                <a:latin typeface="Calibri"/>
              </a:rPr>
              <a:t>estimate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39319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393192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1E2B"/>
                </a:solidFill>
                <a:latin typeface="Calibri"/>
              </a:rPr>
              <a:t>estimate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46177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E8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461772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1E2B"/>
                </a:solidFill>
                <a:latin typeface="Calibri"/>
              </a:rPr>
              <a:t>estimate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What the partner team advises doing next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103120"/>
            <a:ext cx="548640" cy="54864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920240"/>
            <a:ext cx="10317175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Expand partnerships and invest in charging infrastructure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280160" y="3840480"/>
            <a:ext cx="4206240" cy="4206240"/>
          </a:xfrm>
          <a:prstGeom prst="ellipse">
            <a:avLst/>
          </a:prstGeom>
          <a:solidFill>
            <a:srgbClr val="121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20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CADCFC"/>
                </a:solidFill>
                <a:latin typeface="Calibri"/>
              </a:rPr>
              <a:t>Generated by the AI Consultant Agent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