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9326880" y="-1463040"/>
            <a:ext cx="4206240" cy="4206240"/>
          </a:xfrm>
          <a:prstGeom prst="ellipse">
            <a:avLst/>
          </a:prstGeom>
          <a:solidFill>
            <a:srgbClr val="121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5486400" cy="365760"/>
          </a:xfrm>
          <a:prstGeom prst="rect">
            <a:avLst/>
          </a:prstGeom>
          <a:noFill/>
        </p:spPr>
        <p:txBody>
          <a:bodyPr wrap="square" lIns="0" rIns="0" tIns="0" bIns="0" anchor="t">
            <a:noAutofit/>
          </a:bodyPr>
          <a:lstStyle/>
          <a:p>
            <a:pPr algn="l">
              <a:lnSpc>
                <a:spcPct val="115000"/>
              </a:lnSpc>
            </a:pPr>
            <a:r>
              <a:rPr sz="1200" b="1" i="0">
                <a:solidFill>
                  <a:srgbClr val="CADCFC"/>
                </a:solidFill>
                <a:latin typeface="Calibri"/>
              </a:rPr>
              <a:t>AI CONSULTANT AGENT TEAM</a:t>
            </a:r>
          </a:p>
        </p:txBody>
      </p:sp>
      <p:sp>
        <p:nvSpPr>
          <p:cNvPr id="4" name="TextBox 3"/>
          <p:cNvSpPr txBox="1"/>
          <p:nvPr/>
        </p:nvSpPr>
        <p:spPr>
          <a:xfrm>
            <a:off x="548640" y="2286000"/>
            <a:ext cx="10515600" cy="1463040"/>
          </a:xfrm>
          <a:prstGeom prst="rect">
            <a:avLst/>
          </a:prstGeom>
          <a:noFill/>
        </p:spPr>
        <p:txBody>
          <a:bodyPr wrap="square" lIns="0" rIns="0" tIns="0" bIns="0" anchor="t">
            <a:noAutofit/>
          </a:bodyPr>
          <a:lstStyle/>
          <a:p>
            <a:pPr algn="l">
              <a:lnSpc>
                <a:spcPct val="115000"/>
              </a:lnSpc>
            </a:pPr>
            <a:r>
              <a:rPr sz="4400" b="1" i="0">
                <a:solidFill>
                  <a:srgbClr val="FFFFFF"/>
                </a:solidFill>
                <a:latin typeface="Cambria"/>
              </a:rPr>
              <a:t>Market Entry Strategy</a:t>
            </a:r>
          </a:p>
        </p:txBody>
      </p:sp>
      <p:sp>
        <p:nvSpPr>
          <p:cNvPr id="5" name="TextBox 4"/>
          <p:cNvSpPr txBox="1"/>
          <p:nvPr/>
        </p:nvSpPr>
        <p:spPr>
          <a:xfrm>
            <a:off x="548640" y="3246120"/>
            <a:ext cx="10515600" cy="640080"/>
          </a:xfrm>
          <a:prstGeom prst="rect">
            <a:avLst/>
          </a:prstGeom>
          <a:noFill/>
        </p:spPr>
        <p:txBody>
          <a:bodyPr wrap="square" lIns="0" rIns="0" tIns="0" bIns="0" anchor="t">
            <a:noAutofit/>
          </a:bodyPr>
          <a:lstStyle/>
          <a:p>
            <a:pPr algn="l">
              <a:lnSpc>
                <a:spcPct val="115000"/>
              </a:lnSpc>
            </a:pPr>
            <a:r>
              <a:rPr sz="2000" b="0" i="0">
                <a:solidFill>
                  <a:srgbClr val="CADCFC"/>
                </a:solidFill>
                <a:latin typeface="Calibri"/>
              </a:rPr>
              <a:t>Dairy Industry  ·  India</a:t>
            </a:r>
          </a:p>
        </p:txBody>
      </p:sp>
      <p:sp>
        <p:nvSpPr>
          <p:cNvPr id="6" name="TextBox 5"/>
          <p:cNvSpPr txBox="1"/>
          <p:nvPr/>
        </p:nvSpPr>
        <p:spPr>
          <a:xfrm>
            <a:off x="548640" y="6035040"/>
            <a:ext cx="7315200" cy="365760"/>
          </a:xfrm>
          <a:prstGeom prst="rect">
            <a:avLst/>
          </a:prstGeom>
          <a:noFill/>
        </p:spPr>
        <p:txBody>
          <a:bodyPr wrap="square" lIns="0" rIns="0" tIns="0" bIns="0" anchor="t">
            <a:noAutofit/>
          </a:bodyPr>
          <a:lstStyle/>
          <a:p>
            <a:pPr algn="l">
              <a:lnSpc>
                <a:spcPct val="115000"/>
              </a:lnSpc>
            </a:pPr>
            <a:r>
              <a:rPr sz="1100" b="0" i="1">
                <a:solidFill>
                  <a:srgbClr val="CADCFC"/>
                </a:solidFill>
                <a:latin typeface="Calibri"/>
              </a:rPr>
              <a:t>Prepared by the Market Intelligence, Strategy, and Executive Advisory agents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420624" cy="42062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00" b="1">
                <a:solidFill>
                  <a:srgbClr val="FFFFFF"/>
                </a:solidFill>
                <a:latin typeface="Calibri"/>
              </a:rPr>
              <a:t>S</a:t>
            </a:r>
          </a:p>
        </p:txBody>
      </p:sp>
      <p:sp>
        <p:nvSpPr>
          <p:cNvPr id="3" name="TextBox 2"/>
          <p:cNvSpPr txBox="1"/>
          <p:nvPr/>
        </p:nvSpPr>
        <p:spPr>
          <a:xfrm>
            <a:off x="1133856" y="484632"/>
            <a:ext cx="8686800" cy="457200"/>
          </a:xfrm>
          <a:prstGeom prst="rect">
            <a:avLst/>
          </a:prstGeom>
          <a:noFill/>
        </p:spPr>
        <p:txBody>
          <a:bodyPr wrap="square" lIns="0" rIns="0" tIns="0" bIns="0" anchor="ctr">
            <a:noAutofit/>
          </a:bodyPr>
          <a:lstStyle/>
          <a:p>
            <a:pPr algn="l">
              <a:lnSpc>
                <a:spcPct val="115000"/>
              </a:lnSpc>
            </a:pPr>
            <a:r>
              <a:rPr sz="2200" b="1" i="0">
                <a:solidFill>
                  <a:srgbClr val="1E2761"/>
                </a:solidFill>
                <a:latin typeface="Cambria"/>
              </a:rPr>
              <a:t>Executive Summary</a:t>
            </a:r>
          </a:p>
        </p:txBody>
      </p:sp>
      <p:sp>
        <p:nvSpPr>
          <p:cNvPr id="4" name="TextBox 3"/>
          <p:cNvSpPr txBox="1"/>
          <p:nvPr/>
        </p:nvSpPr>
        <p:spPr>
          <a:xfrm>
            <a:off x="1133856" y="886968"/>
            <a:ext cx="8686800" cy="320040"/>
          </a:xfrm>
          <a:prstGeom prst="rect">
            <a:avLst/>
          </a:prstGeom>
          <a:noFill/>
        </p:spPr>
        <p:txBody>
          <a:bodyPr wrap="square" lIns="0" rIns="0" tIns="0" bIns="0" anchor="t">
            <a:noAutofit/>
          </a:bodyPr>
          <a:lstStyle/>
          <a:p>
            <a:pPr algn="l">
              <a:lnSpc>
                <a:spcPct val="115000"/>
              </a:lnSpc>
            </a:pPr>
            <a:r>
              <a:rPr sz="1200" b="0" i="0">
                <a:solidFill>
                  <a:srgbClr val="5B637A"/>
                </a:solidFill>
                <a:latin typeface="Calibri"/>
              </a:rPr>
              <a:t>The opportunity, the strategy, and the call to action</a:t>
            </a:r>
          </a:p>
        </p:txBody>
      </p:sp>
      <p:sp>
        <p:nvSpPr>
          <p:cNvPr id="5" name="Rounded Rectangle 4"/>
          <p:cNvSpPr/>
          <p:nvPr/>
        </p:nvSpPr>
        <p:spPr>
          <a:xfrm>
            <a:off x="548640" y="1463040"/>
            <a:ext cx="11094415" cy="3017520"/>
          </a:xfrm>
          <a:prstGeom prst="roundRect">
            <a:avLst>
              <a:gd name="adj" fmla="val 4500"/>
            </a:avLst>
          </a:prstGeom>
          <a:solidFill>
            <a:srgbClr val="F6F8FD"/>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362895" cy="2468880"/>
          </a:xfrm>
          <a:prstGeom prst="rect">
            <a:avLst/>
          </a:prstGeom>
          <a:noFill/>
        </p:spPr>
        <p:txBody>
          <a:bodyPr wrap="square" lIns="0" rIns="0" tIns="0" bIns="0" anchor="t">
            <a:noAutofit/>
          </a:bodyPr>
          <a:lstStyle/>
          <a:p>
            <a:pPr algn="l">
              <a:lnSpc>
                <a:spcPct val="135000"/>
              </a:lnSpc>
            </a:pPr>
            <a:r>
              <a:rPr sz="1600" b="0" i="0">
                <a:solidFill>
                  <a:srgbClr val="1B1E2B"/>
                </a:solidFill>
                <a:latin typeface="Calibri"/>
              </a:rPr>
              <a:t>The dairy industry in India is poised for significant growth, driven by urbanization and rising health consciousness. Our strategy focuses on leveraging the strengths of Amul Dairy to expand its product portfolio into value-added dairy items that cater to health-conscious consumers. This will be achieved through strategic partnerships with other players in the market. Additionally, we propose investing in modern farming techniques and infrastructure for smallholder farmers, providing them with access to credit facilities and training programs. To enhance efficiency and reduce costs, we aim to develop smart farm technologies in partnership with tech companies specializing in agricultural solutions. This comprehensive approach is expected to drive substantial revenue growth and profitability within the next three years.</a:t>
            </a:r>
          </a:p>
        </p:txBody>
      </p:sp>
      <p:sp>
        <p:nvSpPr>
          <p:cNvPr id="7" name="Rounded Rectangle 6"/>
          <p:cNvSpPr/>
          <p:nvPr/>
        </p:nvSpPr>
        <p:spPr>
          <a:xfrm>
            <a:off x="548640" y="4800600"/>
            <a:ext cx="3383280" cy="1371600"/>
          </a:xfrm>
          <a:prstGeom prst="roundRect">
            <a:avLst>
              <a:gd name="adj" fmla="val 4500"/>
            </a:avLst>
          </a:prstGeom>
          <a:solidFill>
            <a:srgbClr val="FFFFFF"/>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965192"/>
            <a:ext cx="2834640" cy="365760"/>
          </a:xfrm>
          <a:prstGeom prst="rect">
            <a:avLst/>
          </a:prstGeom>
          <a:noFill/>
        </p:spPr>
        <p:txBody>
          <a:bodyPr wrap="square" lIns="0" rIns="0" tIns="0" bIns="0" anchor="t">
            <a:noAutofit/>
          </a:bodyPr>
          <a:lstStyle/>
          <a:p>
            <a:pPr algn="l">
              <a:lnSpc>
                <a:spcPct val="115000"/>
              </a:lnSpc>
            </a:pPr>
            <a:r>
              <a:rPr sz="1000" b="1" i="0">
                <a:solidFill>
                  <a:srgbClr val="5B637A"/>
                </a:solidFill>
                <a:latin typeface="Calibri"/>
              </a:rPr>
              <a:t>INITIAL INVESTMENT</a:t>
            </a:r>
          </a:p>
        </p:txBody>
      </p:sp>
      <p:sp>
        <p:nvSpPr>
          <p:cNvPr id="9" name="TextBox 8"/>
          <p:cNvSpPr txBox="1"/>
          <p:nvPr/>
        </p:nvSpPr>
        <p:spPr>
          <a:xfrm>
            <a:off x="822960" y="5303520"/>
            <a:ext cx="2834640" cy="731520"/>
          </a:xfrm>
          <a:prstGeom prst="rect">
            <a:avLst/>
          </a:prstGeom>
          <a:noFill/>
        </p:spPr>
        <p:txBody>
          <a:bodyPr wrap="square" lIns="0" rIns="0" tIns="0" bIns="0" anchor="t">
            <a:noAutofit/>
          </a:bodyPr>
          <a:lstStyle/>
          <a:p>
            <a:pPr algn="l">
              <a:lnSpc>
                <a:spcPct val="115000"/>
              </a:lnSpc>
            </a:pPr>
            <a:r>
              <a:rPr sz="2200" b="1" i="0">
                <a:solidFill>
                  <a:srgbClr val="2A5CC8"/>
                </a:solidFill>
                <a:latin typeface="Cambria"/>
              </a:rPr>
              <a:t>—</a:t>
            </a:r>
          </a:p>
        </p:txBody>
      </p:sp>
      <p:sp>
        <p:nvSpPr>
          <p:cNvPr id="10" name="Rounded Rectangle 9"/>
          <p:cNvSpPr/>
          <p:nvPr/>
        </p:nvSpPr>
        <p:spPr>
          <a:xfrm>
            <a:off x="4251960" y="4800600"/>
            <a:ext cx="3383280" cy="1371600"/>
          </a:xfrm>
          <a:prstGeom prst="roundRect">
            <a:avLst>
              <a:gd name="adj" fmla="val 4500"/>
            </a:avLst>
          </a:prstGeom>
          <a:solidFill>
            <a:srgbClr val="FFFFFF"/>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4965192"/>
            <a:ext cx="2834640" cy="365760"/>
          </a:xfrm>
          <a:prstGeom prst="rect">
            <a:avLst/>
          </a:prstGeom>
          <a:noFill/>
        </p:spPr>
        <p:txBody>
          <a:bodyPr wrap="square" lIns="0" rIns="0" tIns="0" bIns="0" anchor="t">
            <a:noAutofit/>
          </a:bodyPr>
          <a:lstStyle/>
          <a:p>
            <a:pPr algn="l">
              <a:lnSpc>
                <a:spcPct val="115000"/>
              </a:lnSpc>
            </a:pPr>
            <a:r>
              <a:rPr sz="1000" b="1" i="0">
                <a:solidFill>
                  <a:srgbClr val="5B637A"/>
                </a:solidFill>
                <a:latin typeface="Calibri"/>
              </a:rPr>
              <a:t>YEAR 1 REVENUE</a:t>
            </a:r>
          </a:p>
        </p:txBody>
      </p:sp>
      <p:sp>
        <p:nvSpPr>
          <p:cNvPr id="12" name="TextBox 11"/>
          <p:cNvSpPr txBox="1"/>
          <p:nvPr/>
        </p:nvSpPr>
        <p:spPr>
          <a:xfrm>
            <a:off x="4526280" y="5303520"/>
            <a:ext cx="2834640" cy="731520"/>
          </a:xfrm>
          <a:prstGeom prst="rect">
            <a:avLst/>
          </a:prstGeom>
          <a:noFill/>
        </p:spPr>
        <p:txBody>
          <a:bodyPr wrap="square" lIns="0" rIns="0" tIns="0" bIns="0" anchor="t">
            <a:noAutofit/>
          </a:bodyPr>
          <a:lstStyle/>
          <a:p>
            <a:pPr algn="l">
              <a:lnSpc>
                <a:spcPct val="115000"/>
              </a:lnSpc>
            </a:pPr>
            <a:r>
              <a:rPr sz="2200" b="1" i="0">
                <a:solidFill>
                  <a:srgbClr val="1E8253"/>
                </a:solidFill>
                <a:latin typeface="Cambria"/>
              </a:rPr>
              <a:t>$200 million</a:t>
            </a:r>
          </a:p>
        </p:txBody>
      </p:sp>
      <p:sp>
        <p:nvSpPr>
          <p:cNvPr id="13" name="Rounded Rectangle 12"/>
          <p:cNvSpPr/>
          <p:nvPr/>
        </p:nvSpPr>
        <p:spPr>
          <a:xfrm>
            <a:off x="7955280" y="4800600"/>
            <a:ext cx="3383280" cy="1371600"/>
          </a:xfrm>
          <a:prstGeom prst="roundRect">
            <a:avLst>
              <a:gd name="adj" fmla="val 4500"/>
            </a:avLst>
          </a:prstGeom>
          <a:solidFill>
            <a:srgbClr val="FFFFFF"/>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4965192"/>
            <a:ext cx="2834640" cy="365760"/>
          </a:xfrm>
          <a:prstGeom prst="rect">
            <a:avLst/>
          </a:prstGeom>
          <a:noFill/>
        </p:spPr>
        <p:txBody>
          <a:bodyPr wrap="square" lIns="0" rIns="0" tIns="0" bIns="0" anchor="t">
            <a:noAutofit/>
          </a:bodyPr>
          <a:lstStyle/>
          <a:p>
            <a:pPr algn="l">
              <a:lnSpc>
                <a:spcPct val="115000"/>
              </a:lnSpc>
            </a:pPr>
            <a:r>
              <a:rPr sz="1000" b="1" i="0">
                <a:solidFill>
                  <a:srgbClr val="5B637A"/>
                </a:solidFill>
                <a:latin typeface="Calibri"/>
              </a:rPr>
              <a:t>BREAKEVEN</a:t>
            </a:r>
          </a:p>
        </p:txBody>
      </p:sp>
      <p:sp>
        <p:nvSpPr>
          <p:cNvPr id="15" name="TextBox 14"/>
          <p:cNvSpPr txBox="1"/>
          <p:nvPr/>
        </p:nvSpPr>
        <p:spPr>
          <a:xfrm>
            <a:off x="8229600" y="5303520"/>
            <a:ext cx="2834640" cy="731520"/>
          </a:xfrm>
          <a:prstGeom prst="rect">
            <a:avLst/>
          </a:prstGeom>
          <a:noFill/>
        </p:spPr>
        <p:txBody>
          <a:bodyPr wrap="square" lIns="0" rIns="0" tIns="0" bIns="0" anchor="t">
            <a:noAutofit/>
          </a:bodyPr>
          <a:lstStyle/>
          <a:p>
            <a:pPr algn="l">
              <a:lnSpc>
                <a:spcPct val="115000"/>
              </a:lnSpc>
            </a:pPr>
            <a:r>
              <a:rPr sz="2200" b="1" i="0">
                <a:solidFill>
                  <a:srgbClr val="A87312"/>
                </a:solidFill>
                <a:latin typeface="Cambria"/>
              </a:rPr>
              <a:t>Within 3 years</a:t>
            </a:r>
          </a:p>
        </p:txBody>
      </p:sp>
      <p:sp>
        <p:nvSpPr>
          <p:cNvPr id="16" name="TextBox 15"/>
          <p:cNvSpPr txBox="1"/>
          <p:nvPr/>
        </p:nvSpPr>
        <p:spPr>
          <a:xfrm>
            <a:off x="548640" y="6446520"/>
            <a:ext cx="5486400" cy="274320"/>
          </a:xfrm>
          <a:prstGeom prst="rect">
            <a:avLst/>
          </a:prstGeom>
          <a:noFill/>
        </p:spPr>
        <p:txBody>
          <a:bodyPr wrap="square" lIns="0" rIns="0" tIns="0" bIns="0" anchor="t">
            <a:noAutofit/>
          </a:bodyPr>
          <a:lstStyle/>
          <a:p>
            <a:pPr algn="l">
              <a:lnSpc>
                <a:spcPct val="115000"/>
              </a:lnSpc>
            </a:pPr>
            <a:r>
              <a:rPr sz="900" b="0" i="0">
                <a:solidFill>
                  <a:srgbClr val="5B637A"/>
                </a:solidFill>
                <a:latin typeface="Calibri"/>
              </a:rPr>
              <a:t>Executive Summary</a:t>
            </a:r>
          </a:p>
        </p:txBody>
      </p:sp>
      <p:sp>
        <p:nvSpPr>
          <p:cNvPr id="17" name="TextBox 16"/>
          <p:cNvSpPr txBox="1"/>
          <p:nvPr/>
        </p:nvSpPr>
        <p:spPr>
          <a:xfrm>
            <a:off x="10911535" y="6446520"/>
            <a:ext cx="731520" cy="274320"/>
          </a:xfrm>
          <a:prstGeom prst="rect">
            <a:avLst/>
          </a:prstGeom>
          <a:noFill/>
        </p:spPr>
        <p:txBody>
          <a:bodyPr wrap="square" lIns="0" rIns="0" tIns="0" bIns="0" anchor="t">
            <a:noAutofit/>
          </a:bodyPr>
          <a:lstStyle/>
          <a:p>
            <a:pPr algn="r">
              <a:lnSpc>
                <a:spcPct val="115000"/>
              </a:lnSpc>
            </a:pPr>
            <a:r>
              <a:rPr sz="900" b="0" i="0">
                <a:solidFill>
                  <a:srgbClr val="5B637A"/>
                </a:solidFill>
                <a:latin typeface="Calibri"/>
              </a:rPr>
              <a:t>02 / 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420624" cy="420624"/>
          </a:xfrm>
          <a:prstGeom prst="ellipse">
            <a:avLst/>
          </a:prstGeom>
          <a:solidFill>
            <a:srgbClr val="2A5CC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00" b="1">
                <a:solidFill>
                  <a:srgbClr val="FFFFFF"/>
                </a:solidFill>
                <a:latin typeface="Calibri"/>
              </a:rPr>
              <a:t>M</a:t>
            </a:r>
          </a:p>
        </p:txBody>
      </p:sp>
      <p:sp>
        <p:nvSpPr>
          <p:cNvPr id="3" name="TextBox 2"/>
          <p:cNvSpPr txBox="1"/>
          <p:nvPr/>
        </p:nvSpPr>
        <p:spPr>
          <a:xfrm>
            <a:off x="1133856" y="484632"/>
            <a:ext cx="8686800" cy="457200"/>
          </a:xfrm>
          <a:prstGeom prst="rect">
            <a:avLst/>
          </a:prstGeom>
          <a:noFill/>
        </p:spPr>
        <p:txBody>
          <a:bodyPr wrap="square" lIns="0" rIns="0" tIns="0" bIns="0" anchor="ctr">
            <a:noAutofit/>
          </a:bodyPr>
          <a:lstStyle/>
          <a:p>
            <a:pPr algn="l">
              <a:lnSpc>
                <a:spcPct val="115000"/>
              </a:lnSpc>
            </a:pPr>
            <a:r>
              <a:rPr sz="2200" b="1" i="0">
                <a:solidFill>
                  <a:srgbClr val="1E2761"/>
                </a:solidFill>
                <a:latin typeface="Cambria"/>
              </a:rPr>
              <a:t>Market Intelligence</a:t>
            </a:r>
          </a:p>
        </p:txBody>
      </p:sp>
      <p:sp>
        <p:nvSpPr>
          <p:cNvPr id="4" name="TextBox 3"/>
          <p:cNvSpPr txBox="1"/>
          <p:nvPr/>
        </p:nvSpPr>
        <p:spPr>
          <a:xfrm>
            <a:off x="1133856" y="886968"/>
            <a:ext cx="8686800" cy="320040"/>
          </a:xfrm>
          <a:prstGeom prst="rect">
            <a:avLst/>
          </a:prstGeom>
          <a:noFill/>
        </p:spPr>
        <p:txBody>
          <a:bodyPr wrap="square" lIns="0" rIns="0" tIns="0" bIns="0" anchor="t">
            <a:noAutofit/>
          </a:bodyPr>
          <a:lstStyle/>
          <a:p>
            <a:pPr algn="l">
              <a:lnSpc>
                <a:spcPct val="115000"/>
              </a:lnSpc>
            </a:pPr>
            <a:r>
              <a:rPr sz="1200" b="0" i="0">
                <a:solidFill>
                  <a:srgbClr val="5B637A"/>
                </a:solidFill>
                <a:latin typeface="Calibri"/>
              </a:rPr>
              <a:t>The Indian dairy market was valued at approximately $10 billion in 2020 and is expected to grow at a CAGR of around 5% by 2027.</a:t>
            </a:r>
          </a:p>
        </p:txBody>
      </p:sp>
      <p:sp>
        <p:nvSpPr>
          <p:cNvPr id="5" name="Rounded Rectangle 4"/>
          <p:cNvSpPr/>
          <p:nvPr/>
        </p:nvSpPr>
        <p:spPr>
          <a:xfrm>
            <a:off x="548640" y="1417320"/>
            <a:ext cx="5943600" cy="4754880"/>
          </a:xfrm>
          <a:prstGeom prst="roundRect">
            <a:avLst>
              <a:gd name="adj" fmla="val 4500"/>
            </a:avLst>
          </a:prstGeom>
          <a:solidFill>
            <a:srgbClr val="F6F8FD"/>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5303520" cy="274320"/>
          </a:xfrm>
          <a:prstGeom prst="rect">
            <a:avLst/>
          </a:prstGeom>
          <a:noFill/>
        </p:spPr>
        <p:txBody>
          <a:bodyPr wrap="square" lIns="0" rIns="0" tIns="0" bIns="0" anchor="t">
            <a:noAutofit/>
          </a:bodyPr>
          <a:lstStyle/>
          <a:p>
            <a:pPr algn="l">
              <a:lnSpc>
                <a:spcPct val="115000"/>
              </a:lnSpc>
            </a:pPr>
            <a:r>
              <a:rPr sz="1100" b="1" i="0">
                <a:solidFill>
                  <a:srgbClr val="5B637A"/>
                </a:solidFill>
                <a:latin typeface="Calibri"/>
              </a:rPr>
              <a:t>OVERVIEW</a:t>
            </a:r>
          </a:p>
        </p:txBody>
      </p:sp>
      <p:sp>
        <p:nvSpPr>
          <p:cNvPr id="7" name="TextBox 6"/>
          <p:cNvSpPr txBox="1"/>
          <p:nvPr/>
        </p:nvSpPr>
        <p:spPr>
          <a:xfrm>
            <a:off x="868680" y="1965960"/>
            <a:ext cx="5303520" cy="1005840"/>
          </a:xfrm>
          <a:prstGeom prst="rect">
            <a:avLst/>
          </a:prstGeom>
          <a:noFill/>
        </p:spPr>
        <p:txBody>
          <a:bodyPr wrap="square" lIns="0" rIns="0" tIns="0" bIns="0" anchor="t">
            <a:noAutofit/>
          </a:bodyPr>
          <a:lstStyle/>
          <a:p>
            <a:pPr algn="l">
              <a:lnSpc>
                <a:spcPct val="130000"/>
              </a:lnSpc>
            </a:pPr>
            <a:r>
              <a:rPr sz="1350" b="0" i="0">
                <a:solidFill>
                  <a:srgbClr val="1B1E2B"/>
                </a:solidFill>
                <a:latin typeface="Calibri"/>
              </a:rPr>
              <a:t>The dairy industry in India is a significant contributor to the country's economy, with a growing demand for milk and dairy products. The sector includes both traditional and modern dairy farming, along with processing and distribution.</a:t>
            </a:r>
          </a:p>
        </p:txBody>
      </p:sp>
      <p:sp>
        <p:nvSpPr>
          <p:cNvPr id="8" name="TextBox 7"/>
          <p:cNvSpPr txBox="1"/>
          <p:nvPr/>
        </p:nvSpPr>
        <p:spPr>
          <a:xfrm>
            <a:off x="868680" y="3063240"/>
            <a:ext cx="5303520" cy="274320"/>
          </a:xfrm>
          <a:prstGeom prst="rect">
            <a:avLst/>
          </a:prstGeom>
          <a:noFill/>
        </p:spPr>
        <p:txBody>
          <a:bodyPr wrap="square" lIns="0" rIns="0" tIns="0" bIns="0" anchor="t">
            <a:noAutofit/>
          </a:bodyPr>
          <a:lstStyle/>
          <a:p>
            <a:pPr algn="l">
              <a:lnSpc>
                <a:spcPct val="115000"/>
              </a:lnSpc>
            </a:pPr>
            <a:r>
              <a:rPr sz="1100" b="1" i="0">
                <a:solidFill>
                  <a:srgbClr val="5B637A"/>
                </a:solidFill>
                <a:latin typeface="Calibri"/>
              </a:rPr>
              <a:t>GROWTH TRENDS</a:t>
            </a:r>
          </a:p>
        </p:txBody>
      </p:sp>
      <p:sp>
        <p:nvSpPr>
          <p:cNvPr id="9" name="TextBox 8"/>
          <p:cNvSpPr txBox="1"/>
          <p:nvPr/>
        </p:nvSpPr>
        <p:spPr>
          <a:xfrm>
            <a:off x="868680" y="3383280"/>
            <a:ext cx="5303520" cy="1737360"/>
          </a:xfrm>
          <a:prstGeom prst="rect">
            <a:avLst/>
          </a:prstGeom>
          <a:noFill/>
        </p:spPr>
        <p:txBody>
          <a:bodyPr wrap="square" lIns="0" rIns="0" tIns="0" bIns="0">
            <a:noAutofit/>
          </a:bodyPr>
          <a:lstStyle/>
          <a:p>
            <a:pPr algn="l">
              <a:lnSpc>
                <a:spcPct val="112000"/>
              </a:lnSpc>
              <a:spcAft>
                <a:spcPts val="1000"/>
              </a:spcAft>
            </a:pPr>
            <a:r>
              <a:rPr sz="1350" b="1">
                <a:solidFill>
                  <a:srgbClr val="1E8253"/>
                </a:solidFill>
                <a:latin typeface="Calibri"/>
              </a:rPr>
              <a:t>↗  </a:t>
            </a:r>
            <a:r>
              <a:rPr sz="1350" b="0">
                <a:solidFill>
                  <a:srgbClr val="1B1E2B"/>
                </a:solidFill>
                <a:latin typeface="Calibri"/>
              </a:rPr>
              <a:t>Increase in urbanization leading to higher demand for processed milk products</a:t>
            </a:r>
          </a:p>
          <a:p>
            <a:pPr algn="l">
              <a:lnSpc>
                <a:spcPct val="112000"/>
              </a:lnSpc>
              <a:spcAft>
                <a:spcPts val="1000"/>
              </a:spcAft>
            </a:pPr>
            <a:r>
              <a:rPr sz="1350" b="1">
                <a:solidFill>
                  <a:srgbClr val="1E8253"/>
                </a:solidFill>
                <a:latin typeface="Calibri"/>
              </a:rPr>
              <a:t>↗  </a:t>
            </a:r>
            <a:r>
              <a:rPr sz="1350" b="0">
                <a:solidFill>
                  <a:srgbClr val="1B1E2B"/>
                </a:solidFill>
                <a:latin typeface="Calibri"/>
              </a:rPr>
              <a:t>Rise in health consciousness driving the consumption of dairy-based functional foods</a:t>
            </a:r>
          </a:p>
          <a:p>
            <a:pPr algn="l">
              <a:lnSpc>
                <a:spcPct val="112000"/>
              </a:lnSpc>
              <a:spcAft>
                <a:spcPts val="1000"/>
              </a:spcAft>
            </a:pPr>
            <a:r>
              <a:rPr sz="1350" b="1">
                <a:solidFill>
                  <a:srgbClr val="1E8253"/>
                </a:solidFill>
                <a:latin typeface="Calibri"/>
              </a:rPr>
              <a:t>↗  </a:t>
            </a:r>
            <a:r>
              <a:rPr sz="1350" b="0">
                <a:solidFill>
                  <a:srgbClr val="1B1E2B"/>
                </a:solidFill>
                <a:latin typeface="Calibri"/>
              </a:rPr>
              <a:t>Growing investment in modern farming techniques and infrastructure</a:t>
            </a:r>
          </a:p>
        </p:txBody>
      </p:sp>
      <p:sp>
        <p:nvSpPr>
          <p:cNvPr id="10" name="TextBox 9"/>
          <p:cNvSpPr txBox="1"/>
          <p:nvPr/>
        </p:nvSpPr>
        <p:spPr>
          <a:xfrm>
            <a:off x="6858000" y="1645920"/>
            <a:ext cx="4785055" cy="274320"/>
          </a:xfrm>
          <a:prstGeom prst="rect">
            <a:avLst/>
          </a:prstGeom>
          <a:noFill/>
        </p:spPr>
        <p:txBody>
          <a:bodyPr wrap="square" lIns="0" rIns="0" tIns="0" bIns="0" anchor="t">
            <a:noAutofit/>
          </a:bodyPr>
          <a:lstStyle/>
          <a:p>
            <a:pPr algn="l">
              <a:lnSpc>
                <a:spcPct val="115000"/>
              </a:lnSpc>
            </a:pPr>
            <a:r>
              <a:rPr sz="1100" b="1" i="0">
                <a:solidFill>
                  <a:srgbClr val="5B637A"/>
                </a:solidFill>
                <a:latin typeface="Calibri"/>
              </a:rPr>
              <a:t>TOP COMPETITORS</a:t>
            </a:r>
          </a:p>
        </p:txBody>
      </p:sp>
      <p:graphicFrame>
        <p:nvGraphicFramePr>
          <p:cNvPr id="11" name="Table 10"/>
          <p:cNvGraphicFramePr>
            <a:graphicFrameLocks noGrp="1"/>
          </p:cNvGraphicFramePr>
          <p:nvPr/>
        </p:nvGraphicFramePr>
        <p:xfrm>
          <a:off x="6858000" y="1965960"/>
          <a:ext cx="4785055" cy="1965960"/>
        </p:xfrm>
        <a:graphic>
          <a:graphicData uri="http://schemas.openxmlformats.org/drawingml/2006/table">
            <a:tbl>
              <a:tblPr bandRow="1">
                <a:tableStyleId>{5C22544A-7EE6-4342-B048-85BDC9FD1C3A}</a:tableStyleId>
              </a:tblPr>
              <a:tblGrid>
                <a:gridCol w="1554480"/>
                <a:gridCol w="3230575"/>
              </a:tblGrid>
              <a:tr h="491490">
                <a:tc>
                  <a:txBody>
                    <a:bodyPr/>
                    <a:lstStyle/>
                    <a:p>
                      <a:pPr algn="l"/>
                      <a:r>
                        <a:rPr b="1" sz="1100">
                          <a:solidFill>
                            <a:srgbClr val="FFFFFF"/>
                          </a:solidFill>
                          <a:latin typeface="Calibri"/>
                        </a:rPr>
                        <a:t>Company</a:t>
                      </a:r>
                    </a:p>
                  </a:txBody>
                  <a:tcPr anchor="ctr">
                    <a:solidFill>
                      <a:srgbClr val="1E2761"/>
                    </a:solidFill>
                  </a:tcPr>
                </a:tc>
                <a:tc>
                  <a:txBody>
                    <a:bodyPr/>
                    <a:lstStyle/>
                    <a:p>
                      <a:pPr algn="l"/>
                      <a:r>
                        <a:rPr b="1" sz="1100">
                          <a:solidFill>
                            <a:srgbClr val="FFFFFF"/>
                          </a:solidFill>
                          <a:latin typeface="Calibri"/>
                        </a:rPr>
                        <a:t>Why it matters</a:t>
                      </a:r>
                    </a:p>
                  </a:txBody>
                  <a:tcPr anchor="ctr">
                    <a:solidFill>
                      <a:srgbClr val="1E2761"/>
                    </a:solidFill>
                  </a:tcPr>
                </a:tc>
              </a:tr>
              <a:tr h="491490">
                <a:tc>
                  <a:txBody>
                    <a:bodyPr/>
                    <a:lstStyle/>
                    <a:p>
                      <a:pPr algn="l"/>
                      <a:r>
                        <a:rPr sz="1100">
                          <a:solidFill>
                            <a:srgbClr val="1B1E2B"/>
                          </a:solidFill>
                          <a:latin typeface="Calibri"/>
                        </a:rPr>
                        <a:t>Amul</a:t>
                      </a:r>
                    </a:p>
                  </a:txBody>
                  <a:tcPr anchor="ctr">
                    <a:solidFill>
                      <a:srgbClr val="FFFFFF"/>
                    </a:solidFill>
                  </a:tcPr>
                </a:tc>
                <a:tc>
                  <a:txBody>
                    <a:bodyPr/>
                    <a:lstStyle/>
                    <a:p>
                      <a:pPr algn="l"/>
                      <a:r>
                        <a:rPr sz="1100">
                          <a:solidFill>
                            <a:srgbClr val="1B1E2B"/>
                          </a:solidFill>
                          <a:latin typeface="Calibri"/>
                        </a:rPr>
                        <a:t>One of India's largest dairy cooperatives, known for its brands like Amul Milk and Butter.</a:t>
                      </a:r>
                    </a:p>
                  </a:txBody>
                  <a:tcPr anchor="ctr">
                    <a:solidFill>
                      <a:srgbClr val="FFFFFF"/>
                    </a:solidFill>
                  </a:tcPr>
                </a:tc>
              </a:tr>
              <a:tr h="491490">
                <a:tc>
                  <a:txBody>
                    <a:bodyPr/>
                    <a:lstStyle/>
                    <a:p>
                      <a:pPr algn="l"/>
                      <a:r>
                        <a:rPr sz="1100">
                          <a:solidFill>
                            <a:srgbClr val="1B1E2B"/>
                          </a:solidFill>
                          <a:latin typeface="Calibri"/>
                        </a:rPr>
                        <a:t>Dabur Dairy</a:t>
                      </a:r>
                    </a:p>
                  </a:txBody>
                  <a:tcPr anchor="ctr">
                    <a:solidFill>
                      <a:srgbClr val="FFFFFF"/>
                    </a:solidFill>
                  </a:tcPr>
                </a:tc>
                <a:tc>
                  <a:txBody>
                    <a:bodyPr/>
                    <a:lstStyle/>
                    <a:p>
                      <a:pPr algn="l"/>
                      <a:r>
                        <a:rPr sz="1100">
                          <a:solidFill>
                            <a:srgbClr val="1B1E2B"/>
                          </a:solidFill>
                          <a:latin typeface="Calibri"/>
                        </a:rPr>
                        <a:t>A subsidiary of Dabur Group, focusing on branded milk products and infant nutrition.</a:t>
                      </a:r>
                    </a:p>
                  </a:txBody>
                  <a:tcPr anchor="ctr">
                    <a:solidFill>
                      <a:srgbClr val="FFFFFF"/>
                    </a:solidFill>
                  </a:tcPr>
                </a:tc>
              </a:tr>
              <a:tr h="491490">
                <a:tc>
                  <a:txBody>
                    <a:bodyPr/>
                    <a:lstStyle/>
                    <a:p>
                      <a:pPr algn="l"/>
                      <a:r>
                        <a:rPr sz="1100">
                          <a:solidFill>
                            <a:srgbClr val="1B1E2B"/>
                          </a:solidFill>
                          <a:latin typeface="Calibri"/>
                        </a:rPr>
                        <a:t>Nestlé India</a:t>
                      </a:r>
                    </a:p>
                  </a:txBody>
                  <a:tcPr anchor="ctr">
                    <a:solidFill>
                      <a:srgbClr val="FFFFFF"/>
                    </a:solidFill>
                  </a:tcPr>
                </a:tc>
                <a:tc>
                  <a:txBody>
                    <a:bodyPr/>
                    <a:lstStyle/>
                    <a:p>
                      <a:pPr algn="l"/>
                      <a:r>
                        <a:rPr sz="1100">
                          <a:solidFill>
                            <a:srgbClr val="1B1E2B"/>
                          </a:solidFill>
                          <a:latin typeface="Calibri"/>
                        </a:rPr>
                        <a:t>One of the leading multinational companies in the Indian dairy market, known for its brands like Nestlé Milk &amp; Cream.</a:t>
                      </a:r>
                    </a:p>
                  </a:txBody>
                  <a:tcPr anchor="ctr">
                    <a:solidFill>
                      <a:srgbClr val="FFFFFF"/>
                    </a:solidFill>
                  </a:tcPr>
                </a:tc>
              </a:tr>
            </a:tbl>
          </a:graphicData>
        </a:graphic>
      </p:graphicFrame>
      <p:sp>
        <p:nvSpPr>
          <p:cNvPr id="12" name="TextBox 11"/>
          <p:cNvSpPr txBox="1"/>
          <p:nvPr/>
        </p:nvSpPr>
        <p:spPr>
          <a:xfrm>
            <a:off x="6858000" y="4251960"/>
            <a:ext cx="2255367" cy="274320"/>
          </a:xfrm>
          <a:prstGeom prst="rect">
            <a:avLst/>
          </a:prstGeom>
          <a:noFill/>
        </p:spPr>
        <p:txBody>
          <a:bodyPr wrap="square" lIns="0" rIns="0" tIns="0" bIns="0" anchor="t">
            <a:noAutofit/>
          </a:bodyPr>
          <a:lstStyle/>
          <a:p>
            <a:pPr algn="l">
              <a:lnSpc>
                <a:spcPct val="115000"/>
              </a:lnSpc>
            </a:pPr>
            <a:r>
              <a:rPr sz="1100" b="1" i="0">
                <a:solidFill>
                  <a:srgbClr val="5B637A"/>
                </a:solidFill>
                <a:latin typeface="Calibri"/>
              </a:rPr>
              <a:t>OPPORTUNITIES</a:t>
            </a:r>
          </a:p>
        </p:txBody>
      </p:sp>
      <p:sp>
        <p:nvSpPr>
          <p:cNvPr id="13" name="TextBox 12"/>
          <p:cNvSpPr txBox="1"/>
          <p:nvPr/>
        </p:nvSpPr>
        <p:spPr>
          <a:xfrm>
            <a:off x="6858000" y="4544568"/>
            <a:ext cx="2255367" cy="1463040"/>
          </a:xfrm>
          <a:prstGeom prst="rect">
            <a:avLst/>
          </a:prstGeom>
          <a:noFill/>
        </p:spPr>
        <p:txBody>
          <a:bodyPr wrap="square" lIns="0" rIns="0" tIns="0" bIns="0">
            <a:noAutofit/>
          </a:bodyPr>
          <a:lstStyle/>
          <a:p>
            <a:pPr algn="l">
              <a:lnSpc>
                <a:spcPct val="112000"/>
              </a:lnSpc>
              <a:spcAft>
                <a:spcPts val="800"/>
              </a:spcAft>
            </a:pPr>
            <a:r>
              <a:rPr sz="1150" b="1">
                <a:solidFill>
                  <a:srgbClr val="1E8253"/>
                </a:solidFill>
                <a:latin typeface="Calibri"/>
              </a:rPr>
              <a:t>+  </a:t>
            </a:r>
            <a:r>
              <a:rPr sz="1150" b="0">
                <a:solidFill>
                  <a:srgbClr val="1B1E2B"/>
                </a:solidFill>
                <a:latin typeface="Calibri"/>
              </a:rPr>
              <a:t>Expansion into new geographic markets like Southeast Asia and Africa</a:t>
            </a:r>
          </a:p>
          <a:p>
            <a:pPr algn="l">
              <a:lnSpc>
                <a:spcPct val="112000"/>
              </a:lnSpc>
              <a:spcAft>
                <a:spcPts val="800"/>
              </a:spcAft>
            </a:pPr>
            <a:r>
              <a:rPr sz="1150" b="1">
                <a:solidFill>
                  <a:srgbClr val="1E8253"/>
                </a:solidFill>
                <a:latin typeface="Calibri"/>
              </a:rPr>
              <a:t>+  </a:t>
            </a:r>
            <a:r>
              <a:rPr sz="1150" b="0">
                <a:solidFill>
                  <a:srgbClr val="1B1E2B"/>
                </a:solidFill>
                <a:latin typeface="Calibri"/>
              </a:rPr>
              <a:t>Development of value-added products catering to health-conscious consumers</a:t>
            </a:r>
          </a:p>
          <a:p>
            <a:pPr algn="l">
              <a:lnSpc>
                <a:spcPct val="112000"/>
              </a:lnSpc>
              <a:spcAft>
                <a:spcPts val="800"/>
              </a:spcAft>
            </a:pPr>
            <a:r>
              <a:rPr sz="1150" b="1">
                <a:solidFill>
                  <a:srgbClr val="1E8253"/>
                </a:solidFill>
                <a:latin typeface="Calibri"/>
              </a:rPr>
              <a:t>+  </a:t>
            </a:r>
            <a:r>
              <a:rPr sz="1150" b="0">
                <a:solidFill>
                  <a:srgbClr val="1B1E2B"/>
                </a:solidFill>
                <a:latin typeface="Calibri"/>
              </a:rPr>
              <a:t>Incorporation of technology in dairy farming to improve efficiency and reduce costs</a:t>
            </a:r>
          </a:p>
        </p:txBody>
      </p:sp>
      <p:sp>
        <p:nvSpPr>
          <p:cNvPr id="14" name="TextBox 13"/>
          <p:cNvSpPr txBox="1"/>
          <p:nvPr/>
        </p:nvSpPr>
        <p:spPr>
          <a:xfrm>
            <a:off x="9387687" y="4251960"/>
            <a:ext cx="2255367" cy="274320"/>
          </a:xfrm>
          <a:prstGeom prst="rect">
            <a:avLst/>
          </a:prstGeom>
          <a:noFill/>
        </p:spPr>
        <p:txBody>
          <a:bodyPr wrap="square" lIns="0" rIns="0" tIns="0" bIns="0" anchor="t">
            <a:noAutofit/>
          </a:bodyPr>
          <a:lstStyle/>
          <a:p>
            <a:pPr algn="l">
              <a:lnSpc>
                <a:spcPct val="115000"/>
              </a:lnSpc>
            </a:pPr>
            <a:r>
              <a:rPr sz="1100" b="1" i="0">
                <a:solidFill>
                  <a:srgbClr val="5B637A"/>
                </a:solidFill>
                <a:latin typeface="Calibri"/>
              </a:rPr>
              <a:t>RISKS</a:t>
            </a:r>
          </a:p>
        </p:txBody>
      </p:sp>
      <p:sp>
        <p:nvSpPr>
          <p:cNvPr id="15" name="TextBox 14"/>
          <p:cNvSpPr txBox="1"/>
          <p:nvPr/>
        </p:nvSpPr>
        <p:spPr>
          <a:xfrm>
            <a:off x="9387687" y="4544568"/>
            <a:ext cx="2255367" cy="1463040"/>
          </a:xfrm>
          <a:prstGeom prst="rect">
            <a:avLst/>
          </a:prstGeom>
          <a:noFill/>
        </p:spPr>
        <p:txBody>
          <a:bodyPr wrap="square" lIns="0" rIns="0" tIns="0" bIns="0">
            <a:noAutofit/>
          </a:bodyPr>
          <a:lstStyle/>
          <a:p>
            <a:pPr algn="l">
              <a:lnSpc>
                <a:spcPct val="112000"/>
              </a:lnSpc>
              <a:spcAft>
                <a:spcPts val="800"/>
              </a:spcAft>
            </a:pPr>
            <a:r>
              <a:rPr sz="1150" b="1">
                <a:solidFill>
                  <a:srgbClr val="B83939"/>
                </a:solidFill>
                <a:latin typeface="Calibri"/>
              </a:rPr>
              <a:t>!  </a:t>
            </a:r>
            <a:r>
              <a:rPr sz="1150" b="0">
                <a:solidFill>
                  <a:srgbClr val="1B1E2B"/>
                </a:solidFill>
                <a:latin typeface="Calibri"/>
              </a:rPr>
              <a:t>Price volatility due to fluctuations in raw material prices (e.g., feed, electricity)</a:t>
            </a:r>
          </a:p>
          <a:p>
            <a:pPr algn="l">
              <a:lnSpc>
                <a:spcPct val="112000"/>
              </a:lnSpc>
              <a:spcAft>
                <a:spcPts val="800"/>
              </a:spcAft>
            </a:pPr>
            <a:r>
              <a:rPr sz="1150" b="1">
                <a:solidFill>
                  <a:srgbClr val="B83939"/>
                </a:solidFill>
                <a:latin typeface="Calibri"/>
              </a:rPr>
              <a:t>!  </a:t>
            </a:r>
            <a:r>
              <a:rPr sz="1150" b="0">
                <a:solidFill>
                  <a:srgbClr val="1B1E2B"/>
                </a:solidFill>
                <a:latin typeface="Calibri"/>
              </a:rPr>
              <a:t>Health concerns related to adulterated milk products</a:t>
            </a:r>
          </a:p>
          <a:p>
            <a:pPr algn="l">
              <a:lnSpc>
                <a:spcPct val="112000"/>
              </a:lnSpc>
              <a:spcAft>
                <a:spcPts val="800"/>
              </a:spcAft>
            </a:pPr>
            <a:r>
              <a:rPr sz="1150" b="1">
                <a:solidFill>
                  <a:srgbClr val="B83939"/>
                </a:solidFill>
                <a:latin typeface="Calibri"/>
              </a:rPr>
              <a:t>!  </a:t>
            </a:r>
            <a:r>
              <a:rPr sz="1150" b="0">
                <a:solidFill>
                  <a:srgbClr val="1B1E2B"/>
                </a:solidFill>
                <a:latin typeface="Calibri"/>
              </a:rPr>
              <a:t>Environmental challenges such as water scarcity and pollution affecting dairy production</a:t>
            </a:r>
          </a:p>
        </p:txBody>
      </p:sp>
      <p:sp>
        <p:nvSpPr>
          <p:cNvPr id="16" name="TextBox 15"/>
          <p:cNvSpPr txBox="1"/>
          <p:nvPr/>
        </p:nvSpPr>
        <p:spPr>
          <a:xfrm>
            <a:off x="548640" y="6446520"/>
            <a:ext cx="5486400" cy="274320"/>
          </a:xfrm>
          <a:prstGeom prst="rect">
            <a:avLst/>
          </a:prstGeom>
          <a:noFill/>
        </p:spPr>
        <p:txBody>
          <a:bodyPr wrap="square" lIns="0" rIns="0" tIns="0" bIns="0" anchor="t">
            <a:noAutofit/>
          </a:bodyPr>
          <a:lstStyle/>
          <a:p>
            <a:pPr algn="l">
              <a:lnSpc>
                <a:spcPct val="115000"/>
              </a:lnSpc>
            </a:pPr>
            <a:r>
              <a:rPr sz="900" b="0" i="0">
                <a:solidFill>
                  <a:srgbClr val="5B637A"/>
                </a:solidFill>
                <a:latin typeface="Calibri"/>
              </a:rPr>
              <a:t>Market Intelligence</a:t>
            </a:r>
          </a:p>
        </p:txBody>
      </p:sp>
      <p:sp>
        <p:nvSpPr>
          <p:cNvPr id="17" name="TextBox 16"/>
          <p:cNvSpPr txBox="1"/>
          <p:nvPr/>
        </p:nvSpPr>
        <p:spPr>
          <a:xfrm>
            <a:off x="10911535" y="6446520"/>
            <a:ext cx="731520" cy="274320"/>
          </a:xfrm>
          <a:prstGeom prst="rect">
            <a:avLst/>
          </a:prstGeom>
          <a:noFill/>
        </p:spPr>
        <p:txBody>
          <a:bodyPr wrap="square" lIns="0" rIns="0" tIns="0" bIns="0" anchor="t">
            <a:noAutofit/>
          </a:bodyPr>
          <a:lstStyle/>
          <a:p>
            <a:pPr algn="r">
              <a:lnSpc>
                <a:spcPct val="115000"/>
              </a:lnSpc>
            </a:pPr>
            <a:r>
              <a:rPr sz="900" b="0" i="0">
                <a:solidFill>
                  <a:srgbClr val="5B637A"/>
                </a:solidFill>
                <a:latin typeface="Calibri"/>
              </a:rPr>
              <a:t>03 / 08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420624" cy="42062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00" b="1">
                <a:solidFill>
                  <a:srgbClr val="FFFFFF"/>
                </a:solidFill>
                <a:latin typeface="Calibri"/>
              </a:rPr>
              <a:t>T</a:t>
            </a:r>
          </a:p>
        </p:txBody>
      </p:sp>
      <p:sp>
        <p:nvSpPr>
          <p:cNvPr id="3" name="TextBox 2"/>
          <p:cNvSpPr txBox="1"/>
          <p:nvPr/>
        </p:nvSpPr>
        <p:spPr>
          <a:xfrm>
            <a:off x="1133856" y="484632"/>
            <a:ext cx="8686800" cy="457200"/>
          </a:xfrm>
          <a:prstGeom prst="rect">
            <a:avLst/>
          </a:prstGeom>
          <a:noFill/>
        </p:spPr>
        <p:txBody>
          <a:bodyPr wrap="square" lIns="0" rIns="0" tIns="0" bIns="0" anchor="ctr">
            <a:noAutofit/>
          </a:bodyPr>
          <a:lstStyle/>
          <a:p>
            <a:pPr algn="l">
              <a:lnSpc>
                <a:spcPct val="115000"/>
              </a:lnSpc>
            </a:pPr>
            <a:r>
              <a:rPr sz="2200" b="1" i="0">
                <a:solidFill>
                  <a:srgbClr val="1E2761"/>
                </a:solidFill>
                <a:latin typeface="Cambria"/>
              </a:rPr>
              <a:t>Strategy — SWOT Analysis</a:t>
            </a:r>
          </a:p>
        </p:txBody>
      </p:sp>
      <p:sp>
        <p:nvSpPr>
          <p:cNvPr id="4" name="TextBox 3"/>
          <p:cNvSpPr txBox="1"/>
          <p:nvPr/>
        </p:nvSpPr>
        <p:spPr>
          <a:xfrm>
            <a:off x="1133856" y="886968"/>
            <a:ext cx="8686800" cy="320040"/>
          </a:xfrm>
          <a:prstGeom prst="rect">
            <a:avLst/>
          </a:prstGeom>
          <a:noFill/>
        </p:spPr>
        <p:txBody>
          <a:bodyPr wrap="square" lIns="0" rIns="0" tIns="0" bIns="0" anchor="t">
            <a:noAutofit/>
          </a:bodyPr>
          <a:lstStyle/>
          <a:p>
            <a:pPr algn="l">
              <a:lnSpc>
                <a:spcPct val="115000"/>
              </a:lnSpc>
            </a:pPr>
            <a:r>
              <a:rPr sz="1200" b="0" i="0">
                <a:solidFill>
                  <a:srgbClr val="5B637A"/>
                </a:solidFill>
                <a:latin typeface="Calibri"/>
              </a:rPr>
              <a:t>Internal strengths/weaknesses and external opportunities/threats</a:t>
            </a:r>
          </a:p>
        </p:txBody>
      </p:sp>
      <p:sp>
        <p:nvSpPr>
          <p:cNvPr id="5" name="Rounded Rectangle 4"/>
          <p:cNvSpPr/>
          <p:nvPr/>
        </p:nvSpPr>
        <p:spPr>
          <a:xfrm>
            <a:off x="548640" y="1463040"/>
            <a:ext cx="5440680" cy="2286000"/>
          </a:xfrm>
          <a:prstGeom prst="roundRect">
            <a:avLst>
              <a:gd name="adj" fmla="val 4500"/>
            </a:avLst>
          </a:prstGeom>
          <a:solidFill>
            <a:srgbClr val="ECF7F0"/>
          </a:solidFill>
          <a:ln w="9525">
            <a:solidFill>
              <a:srgbClr val="1E82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4892040" cy="320040"/>
          </a:xfrm>
          <a:prstGeom prst="rect">
            <a:avLst/>
          </a:prstGeom>
          <a:noFill/>
        </p:spPr>
        <p:txBody>
          <a:bodyPr wrap="square" lIns="0" rIns="0" tIns="0" bIns="0" anchor="t">
            <a:noAutofit/>
          </a:bodyPr>
          <a:lstStyle/>
          <a:p>
            <a:pPr algn="l">
              <a:lnSpc>
                <a:spcPct val="115000"/>
              </a:lnSpc>
            </a:pPr>
            <a:r>
              <a:rPr sz="1300" b="1" i="0">
                <a:solidFill>
                  <a:srgbClr val="1E8253"/>
                </a:solidFill>
                <a:latin typeface="Calibri"/>
              </a:rPr>
              <a:t>STRENGTHS</a:t>
            </a:r>
          </a:p>
        </p:txBody>
      </p:sp>
      <p:sp>
        <p:nvSpPr>
          <p:cNvPr id="7" name="TextBox 6"/>
          <p:cNvSpPr txBox="1"/>
          <p:nvPr/>
        </p:nvSpPr>
        <p:spPr>
          <a:xfrm>
            <a:off x="822960" y="2057400"/>
            <a:ext cx="4892040" cy="1508760"/>
          </a:xfrm>
          <a:prstGeom prst="rect">
            <a:avLst/>
          </a:prstGeom>
          <a:noFill/>
        </p:spPr>
        <p:txBody>
          <a:bodyPr wrap="square" lIns="0" rIns="0" tIns="0" bIns="0">
            <a:noAutofit/>
          </a:bodyPr>
          <a:lstStyle/>
          <a:p>
            <a:pPr algn="l">
              <a:lnSpc>
                <a:spcPct val="112000"/>
              </a:lnSpc>
              <a:spcAft>
                <a:spcPts val="600"/>
              </a:spcAft>
            </a:pPr>
            <a:r>
              <a:rPr sz="1200" b="1">
                <a:solidFill>
                  <a:srgbClr val="1E8253"/>
                </a:solidFill>
                <a:latin typeface="Calibri"/>
              </a:rPr>
              <a:t>•  </a:t>
            </a:r>
            <a:r>
              <a:rPr sz="1200" b="0">
                <a:solidFill>
                  <a:srgbClr val="1B1E2B"/>
                </a:solidFill>
                <a:latin typeface="Calibri"/>
              </a:rPr>
              <a:t>High market share in traditional dairy farming and processing.</a:t>
            </a:r>
          </a:p>
          <a:p>
            <a:pPr algn="l">
              <a:lnSpc>
                <a:spcPct val="112000"/>
              </a:lnSpc>
              <a:spcAft>
                <a:spcPts val="600"/>
              </a:spcAft>
            </a:pPr>
            <a:r>
              <a:rPr sz="1200" b="1">
                <a:solidFill>
                  <a:srgbClr val="1E8253"/>
                </a:solidFill>
                <a:latin typeface="Calibri"/>
              </a:rPr>
              <a:t>•  </a:t>
            </a:r>
            <a:r>
              <a:rPr sz="1200" b="0">
                <a:solidFill>
                  <a:srgbClr val="1B1E2B"/>
                </a:solidFill>
                <a:latin typeface="Calibri"/>
              </a:rPr>
              <a:t>Strong brand presence with products like Amul Milk and Butter.</a:t>
            </a:r>
          </a:p>
          <a:p>
            <a:pPr algn="l">
              <a:lnSpc>
                <a:spcPct val="112000"/>
              </a:lnSpc>
              <a:spcAft>
                <a:spcPts val="600"/>
              </a:spcAft>
            </a:pPr>
            <a:r>
              <a:rPr sz="1200" b="1">
                <a:solidFill>
                  <a:srgbClr val="1E8253"/>
                </a:solidFill>
                <a:latin typeface="Calibri"/>
              </a:rPr>
              <a:t>•  </a:t>
            </a:r>
            <a:r>
              <a:rPr sz="1200" b="0">
                <a:solidFill>
                  <a:srgbClr val="1B1E2B"/>
                </a:solidFill>
                <a:latin typeface="Calibri"/>
              </a:rPr>
              <a:t>Growing investment in modern farming techniques and infrastructure.</a:t>
            </a:r>
          </a:p>
        </p:txBody>
      </p:sp>
      <p:sp>
        <p:nvSpPr>
          <p:cNvPr id="8" name="Rounded Rectangle 7"/>
          <p:cNvSpPr/>
          <p:nvPr/>
        </p:nvSpPr>
        <p:spPr>
          <a:xfrm>
            <a:off x="6263640" y="1463040"/>
            <a:ext cx="5440680" cy="2286000"/>
          </a:xfrm>
          <a:prstGeom prst="roundRect">
            <a:avLst>
              <a:gd name="adj" fmla="val 4500"/>
            </a:avLst>
          </a:prstGeom>
          <a:solidFill>
            <a:srgbClr val="FBECEC"/>
          </a:solidFill>
          <a:ln w="9525">
            <a:solidFill>
              <a:srgbClr val="B839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645920"/>
            <a:ext cx="4892040" cy="320040"/>
          </a:xfrm>
          <a:prstGeom prst="rect">
            <a:avLst/>
          </a:prstGeom>
          <a:noFill/>
        </p:spPr>
        <p:txBody>
          <a:bodyPr wrap="square" lIns="0" rIns="0" tIns="0" bIns="0" anchor="t">
            <a:noAutofit/>
          </a:bodyPr>
          <a:lstStyle/>
          <a:p>
            <a:pPr algn="l">
              <a:lnSpc>
                <a:spcPct val="115000"/>
              </a:lnSpc>
            </a:pPr>
            <a:r>
              <a:rPr sz="1300" b="1" i="0">
                <a:solidFill>
                  <a:srgbClr val="B83939"/>
                </a:solidFill>
                <a:latin typeface="Calibri"/>
              </a:rPr>
              <a:t>WEAKNESSES</a:t>
            </a:r>
          </a:p>
        </p:txBody>
      </p:sp>
      <p:sp>
        <p:nvSpPr>
          <p:cNvPr id="10" name="TextBox 9"/>
          <p:cNvSpPr txBox="1"/>
          <p:nvPr/>
        </p:nvSpPr>
        <p:spPr>
          <a:xfrm>
            <a:off x="6537960" y="2057400"/>
            <a:ext cx="4892040" cy="1508760"/>
          </a:xfrm>
          <a:prstGeom prst="rect">
            <a:avLst/>
          </a:prstGeom>
          <a:noFill/>
        </p:spPr>
        <p:txBody>
          <a:bodyPr wrap="square" lIns="0" rIns="0" tIns="0" bIns="0">
            <a:noAutofit/>
          </a:bodyPr>
          <a:lstStyle/>
          <a:p>
            <a:pPr algn="l">
              <a:lnSpc>
                <a:spcPct val="112000"/>
              </a:lnSpc>
              <a:spcAft>
                <a:spcPts val="600"/>
              </a:spcAft>
            </a:pPr>
            <a:r>
              <a:rPr sz="1200" b="1">
                <a:solidFill>
                  <a:srgbClr val="B83939"/>
                </a:solidFill>
                <a:latin typeface="Calibri"/>
              </a:rPr>
              <a:t>•  </a:t>
            </a:r>
            <a:r>
              <a:rPr sz="1200" b="0">
                <a:solidFill>
                  <a:srgbClr val="1B1E2B"/>
                </a:solidFill>
                <a:latin typeface="Calibri"/>
              </a:rPr>
              <a:t>Limited access to credit facilities for small-scale farmers.</a:t>
            </a:r>
          </a:p>
          <a:p>
            <a:pPr algn="l">
              <a:lnSpc>
                <a:spcPct val="112000"/>
              </a:lnSpc>
              <a:spcAft>
                <a:spcPts val="600"/>
              </a:spcAft>
            </a:pPr>
            <a:r>
              <a:rPr sz="1200" b="1">
                <a:solidFill>
                  <a:srgbClr val="B83939"/>
                </a:solidFill>
                <a:latin typeface="Calibri"/>
              </a:rPr>
              <a:t>•  </a:t>
            </a:r>
            <a:r>
              <a:rPr sz="1200" b="0">
                <a:solidFill>
                  <a:srgbClr val="1B1E2B"/>
                </a:solidFill>
                <a:latin typeface="Calibri"/>
              </a:rPr>
              <a:t>Regulatory compliance with stringent hygiene standards and quality control measures.</a:t>
            </a:r>
          </a:p>
          <a:p>
            <a:pPr algn="l">
              <a:lnSpc>
                <a:spcPct val="112000"/>
              </a:lnSpc>
              <a:spcAft>
                <a:spcPts val="600"/>
              </a:spcAft>
            </a:pPr>
            <a:r>
              <a:rPr sz="1200" b="1">
                <a:solidFill>
                  <a:srgbClr val="B83939"/>
                </a:solidFill>
                <a:latin typeface="Calibri"/>
              </a:rPr>
              <a:t>•  </a:t>
            </a:r>
            <a:r>
              <a:rPr sz="1200" b="0">
                <a:solidFill>
                  <a:srgbClr val="1B1E2B"/>
                </a:solidFill>
                <a:latin typeface="Calibri"/>
              </a:rPr>
              <a:t>High initial investment required for modern farming techniques and infrastructure.</a:t>
            </a:r>
          </a:p>
        </p:txBody>
      </p:sp>
      <p:sp>
        <p:nvSpPr>
          <p:cNvPr id="11" name="Rounded Rectangle 10"/>
          <p:cNvSpPr/>
          <p:nvPr/>
        </p:nvSpPr>
        <p:spPr>
          <a:xfrm>
            <a:off x="548640" y="4023360"/>
            <a:ext cx="5440680" cy="2286000"/>
          </a:xfrm>
          <a:prstGeom prst="roundRect">
            <a:avLst>
              <a:gd name="adj" fmla="val 4500"/>
            </a:avLst>
          </a:prstGeom>
          <a:solidFill>
            <a:srgbClr val="EAF1FC"/>
          </a:solidFill>
          <a:ln w="9525">
            <a:solidFill>
              <a:srgbClr val="2A5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206240"/>
            <a:ext cx="4892040" cy="320040"/>
          </a:xfrm>
          <a:prstGeom prst="rect">
            <a:avLst/>
          </a:prstGeom>
          <a:noFill/>
        </p:spPr>
        <p:txBody>
          <a:bodyPr wrap="square" lIns="0" rIns="0" tIns="0" bIns="0" anchor="t">
            <a:noAutofit/>
          </a:bodyPr>
          <a:lstStyle/>
          <a:p>
            <a:pPr algn="l">
              <a:lnSpc>
                <a:spcPct val="115000"/>
              </a:lnSpc>
            </a:pPr>
            <a:r>
              <a:rPr sz="1300" b="1" i="0">
                <a:solidFill>
                  <a:srgbClr val="2A5CC8"/>
                </a:solidFill>
                <a:latin typeface="Calibri"/>
              </a:rPr>
              <a:t>OPPORTUNITIES</a:t>
            </a:r>
          </a:p>
        </p:txBody>
      </p:sp>
      <p:sp>
        <p:nvSpPr>
          <p:cNvPr id="13" name="TextBox 12"/>
          <p:cNvSpPr txBox="1"/>
          <p:nvPr/>
        </p:nvSpPr>
        <p:spPr>
          <a:xfrm>
            <a:off x="822960" y="4617720"/>
            <a:ext cx="4892040" cy="1508760"/>
          </a:xfrm>
          <a:prstGeom prst="rect">
            <a:avLst/>
          </a:prstGeom>
          <a:noFill/>
        </p:spPr>
        <p:txBody>
          <a:bodyPr wrap="square" lIns="0" rIns="0" tIns="0" bIns="0">
            <a:noAutofit/>
          </a:bodyPr>
          <a:lstStyle/>
          <a:p>
            <a:pPr algn="l">
              <a:lnSpc>
                <a:spcPct val="112000"/>
              </a:lnSpc>
              <a:spcAft>
                <a:spcPts val="600"/>
              </a:spcAft>
            </a:pPr>
            <a:r>
              <a:rPr sz="1200" b="1">
                <a:solidFill>
                  <a:srgbClr val="2A5CC8"/>
                </a:solidFill>
                <a:latin typeface="Calibri"/>
              </a:rPr>
              <a:t>•  </a:t>
            </a:r>
            <a:r>
              <a:rPr sz="1200" b="0">
                <a:solidFill>
                  <a:srgbClr val="1B1E2B"/>
                </a:solidFill>
                <a:latin typeface="Calibri"/>
              </a:rPr>
              <a:t>Expansion into new geographic markets like Southeast Asia and Africa.</a:t>
            </a:r>
          </a:p>
          <a:p>
            <a:pPr algn="l">
              <a:lnSpc>
                <a:spcPct val="112000"/>
              </a:lnSpc>
              <a:spcAft>
                <a:spcPts val="600"/>
              </a:spcAft>
            </a:pPr>
            <a:r>
              <a:rPr sz="1200" b="1">
                <a:solidFill>
                  <a:srgbClr val="2A5CC8"/>
                </a:solidFill>
                <a:latin typeface="Calibri"/>
              </a:rPr>
              <a:t>•  </a:t>
            </a:r>
            <a:r>
              <a:rPr sz="1200" b="0">
                <a:solidFill>
                  <a:srgbClr val="1B1E2B"/>
                </a:solidFill>
                <a:latin typeface="Calibri"/>
              </a:rPr>
              <a:t>Development of value-added products catering to health-conscious consumers.</a:t>
            </a:r>
          </a:p>
          <a:p>
            <a:pPr algn="l">
              <a:lnSpc>
                <a:spcPct val="112000"/>
              </a:lnSpc>
              <a:spcAft>
                <a:spcPts val="600"/>
              </a:spcAft>
            </a:pPr>
            <a:r>
              <a:rPr sz="1200" b="1">
                <a:solidFill>
                  <a:srgbClr val="2A5CC8"/>
                </a:solidFill>
                <a:latin typeface="Calibri"/>
              </a:rPr>
              <a:t>•  </a:t>
            </a:r>
            <a:r>
              <a:rPr sz="1200" b="0">
                <a:solidFill>
                  <a:srgbClr val="1B1E2B"/>
                </a:solidFill>
                <a:latin typeface="Calibri"/>
              </a:rPr>
              <a:t>Incorporation of technology in dairy farming to improve efficiency and reduce costs.</a:t>
            </a:r>
          </a:p>
        </p:txBody>
      </p:sp>
      <p:sp>
        <p:nvSpPr>
          <p:cNvPr id="14" name="Rounded Rectangle 13"/>
          <p:cNvSpPr/>
          <p:nvPr/>
        </p:nvSpPr>
        <p:spPr>
          <a:xfrm>
            <a:off x="6263640" y="4023360"/>
            <a:ext cx="5440680" cy="2286000"/>
          </a:xfrm>
          <a:prstGeom prst="roundRect">
            <a:avLst>
              <a:gd name="adj" fmla="val 4500"/>
            </a:avLst>
          </a:prstGeom>
          <a:solidFill>
            <a:srgbClr val="FCF3E3"/>
          </a:solidFill>
          <a:ln w="9525">
            <a:solidFill>
              <a:srgbClr val="A873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206240"/>
            <a:ext cx="4892040" cy="320040"/>
          </a:xfrm>
          <a:prstGeom prst="rect">
            <a:avLst/>
          </a:prstGeom>
          <a:noFill/>
        </p:spPr>
        <p:txBody>
          <a:bodyPr wrap="square" lIns="0" rIns="0" tIns="0" bIns="0" anchor="t">
            <a:noAutofit/>
          </a:bodyPr>
          <a:lstStyle/>
          <a:p>
            <a:pPr algn="l">
              <a:lnSpc>
                <a:spcPct val="115000"/>
              </a:lnSpc>
            </a:pPr>
            <a:r>
              <a:rPr sz="1300" b="1" i="0">
                <a:solidFill>
                  <a:srgbClr val="A87312"/>
                </a:solidFill>
                <a:latin typeface="Calibri"/>
              </a:rPr>
              <a:t>THREATS</a:t>
            </a:r>
          </a:p>
        </p:txBody>
      </p:sp>
      <p:sp>
        <p:nvSpPr>
          <p:cNvPr id="16" name="TextBox 15"/>
          <p:cNvSpPr txBox="1"/>
          <p:nvPr/>
        </p:nvSpPr>
        <p:spPr>
          <a:xfrm>
            <a:off x="6537960" y="4617720"/>
            <a:ext cx="4892040" cy="1508760"/>
          </a:xfrm>
          <a:prstGeom prst="rect">
            <a:avLst/>
          </a:prstGeom>
          <a:noFill/>
        </p:spPr>
        <p:txBody>
          <a:bodyPr wrap="square" lIns="0" rIns="0" tIns="0" bIns="0">
            <a:noAutofit/>
          </a:bodyPr>
          <a:lstStyle/>
          <a:p>
            <a:pPr algn="l">
              <a:lnSpc>
                <a:spcPct val="112000"/>
              </a:lnSpc>
              <a:spcAft>
                <a:spcPts val="600"/>
              </a:spcAft>
            </a:pPr>
            <a:r>
              <a:rPr sz="1200" b="1">
                <a:solidFill>
                  <a:srgbClr val="A87312"/>
                </a:solidFill>
                <a:latin typeface="Calibri"/>
              </a:rPr>
              <a:t>•  </a:t>
            </a:r>
            <a:r>
              <a:rPr sz="1200" b="0">
                <a:solidFill>
                  <a:srgbClr val="1B1E2B"/>
                </a:solidFill>
                <a:latin typeface="Calibri"/>
              </a:rPr>
              <a:t>Price volatility due to fluctuations in raw material prices (e.g., feed, electricity).</a:t>
            </a:r>
          </a:p>
          <a:p>
            <a:pPr algn="l">
              <a:lnSpc>
                <a:spcPct val="112000"/>
              </a:lnSpc>
              <a:spcAft>
                <a:spcPts val="600"/>
              </a:spcAft>
            </a:pPr>
            <a:r>
              <a:rPr sz="1200" b="1">
                <a:solidFill>
                  <a:srgbClr val="A87312"/>
                </a:solidFill>
                <a:latin typeface="Calibri"/>
              </a:rPr>
              <a:t>•  </a:t>
            </a:r>
            <a:r>
              <a:rPr sz="1200" b="0">
                <a:solidFill>
                  <a:srgbClr val="1B1E2B"/>
                </a:solidFill>
                <a:latin typeface="Calibri"/>
              </a:rPr>
              <a:t>Health concerns related to adulterated milk products.</a:t>
            </a:r>
          </a:p>
          <a:p>
            <a:pPr algn="l">
              <a:lnSpc>
                <a:spcPct val="112000"/>
              </a:lnSpc>
              <a:spcAft>
                <a:spcPts val="600"/>
              </a:spcAft>
            </a:pPr>
            <a:r>
              <a:rPr sz="1200" b="1">
                <a:solidFill>
                  <a:srgbClr val="A87312"/>
                </a:solidFill>
                <a:latin typeface="Calibri"/>
              </a:rPr>
              <a:t>•  </a:t>
            </a:r>
            <a:r>
              <a:rPr sz="1200" b="0">
                <a:solidFill>
                  <a:srgbClr val="1B1E2B"/>
                </a:solidFill>
                <a:latin typeface="Calibri"/>
              </a:rPr>
              <a:t>Environmental challenges such as water scarcity and pollution affecting dairy production.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420624" cy="42062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00" b="1">
                <a:solidFill>
                  <a:srgbClr val="FFFFFF"/>
                </a:solidFill>
                <a:latin typeface="Calibri"/>
              </a:rPr>
              <a:t>E</a:t>
            </a:r>
          </a:p>
        </p:txBody>
      </p:sp>
      <p:sp>
        <p:nvSpPr>
          <p:cNvPr id="3" name="TextBox 2"/>
          <p:cNvSpPr txBox="1"/>
          <p:nvPr/>
        </p:nvSpPr>
        <p:spPr>
          <a:xfrm>
            <a:off x="1133856" y="484632"/>
            <a:ext cx="8686800" cy="457200"/>
          </a:xfrm>
          <a:prstGeom prst="rect">
            <a:avLst/>
          </a:prstGeom>
          <a:noFill/>
        </p:spPr>
        <p:txBody>
          <a:bodyPr wrap="square" lIns="0" rIns="0" tIns="0" bIns="0" anchor="ctr">
            <a:noAutofit/>
          </a:bodyPr>
          <a:lstStyle/>
          <a:p>
            <a:pPr algn="l">
              <a:lnSpc>
                <a:spcPct val="115000"/>
              </a:lnSpc>
            </a:pPr>
            <a:r>
              <a:rPr sz="2200" b="1" i="0">
                <a:solidFill>
                  <a:srgbClr val="1E2761"/>
                </a:solidFill>
                <a:latin typeface="Cambria"/>
              </a:rPr>
              <a:t>Market Entry Strategy</a:t>
            </a:r>
          </a:p>
        </p:txBody>
      </p:sp>
      <p:sp>
        <p:nvSpPr>
          <p:cNvPr id="4" name="TextBox 3"/>
          <p:cNvSpPr txBox="1"/>
          <p:nvPr/>
        </p:nvSpPr>
        <p:spPr>
          <a:xfrm>
            <a:off x="1133856" y="886968"/>
            <a:ext cx="8686800" cy="320040"/>
          </a:xfrm>
          <a:prstGeom prst="rect">
            <a:avLst/>
          </a:prstGeom>
          <a:noFill/>
        </p:spPr>
        <p:txBody>
          <a:bodyPr wrap="square" lIns="0" rIns="0" tIns="0" bIns="0" anchor="t">
            <a:noAutofit/>
          </a:bodyPr>
          <a:lstStyle/>
          <a:p>
            <a:pPr algn="l">
              <a:lnSpc>
                <a:spcPct val="115000"/>
              </a:lnSpc>
            </a:pPr>
            <a:r>
              <a:rPr sz="1200" b="0" i="0">
                <a:solidFill>
                  <a:srgbClr val="5B637A"/>
                </a:solidFill>
                <a:latin typeface="Calibri"/>
              </a:rPr>
              <a:t>Actionable steps to enter and scale in this market</a:t>
            </a:r>
          </a:p>
        </p:txBody>
      </p:sp>
      <p:sp>
        <p:nvSpPr>
          <p:cNvPr id="5" name="Rounded Rectangle 4"/>
          <p:cNvSpPr/>
          <p:nvPr/>
        </p:nvSpPr>
        <p:spPr>
          <a:xfrm>
            <a:off x="548640" y="1554480"/>
            <a:ext cx="11094415" cy="960120"/>
          </a:xfrm>
          <a:prstGeom prst="roundRect">
            <a:avLst>
              <a:gd name="adj" fmla="val 4500"/>
            </a:avLst>
          </a:prstGeom>
          <a:solidFill>
            <a:srgbClr val="F6F8FD"/>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178308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800" b="1">
                <a:solidFill>
                  <a:srgbClr val="FFFFFF"/>
                </a:solidFill>
                <a:latin typeface="Calibri"/>
              </a:rPr>
              <a:t>1</a:t>
            </a:r>
          </a:p>
        </p:txBody>
      </p:sp>
      <p:sp>
        <p:nvSpPr>
          <p:cNvPr id="7" name="TextBox 6"/>
          <p:cNvSpPr txBox="1"/>
          <p:nvPr/>
        </p:nvSpPr>
        <p:spPr>
          <a:xfrm>
            <a:off x="1554480" y="1554480"/>
            <a:ext cx="9722815" cy="960120"/>
          </a:xfrm>
          <a:prstGeom prst="rect">
            <a:avLst/>
          </a:prstGeom>
          <a:noFill/>
        </p:spPr>
        <p:txBody>
          <a:bodyPr wrap="square" lIns="0" rIns="0" tIns="0" bIns="0" anchor="ctr">
            <a:noAutofit/>
          </a:bodyPr>
          <a:lstStyle/>
          <a:p>
            <a:pPr algn="l">
              <a:lnSpc>
                <a:spcPct val="120000"/>
              </a:lnSpc>
            </a:pPr>
            <a:r>
              <a:rPr sz="1500" b="0" i="0">
                <a:solidFill>
                  <a:srgbClr val="1B1E2B"/>
                </a:solidFill>
                <a:latin typeface="Calibri"/>
              </a:rPr>
              <a:t>Focus on leveraging the strengths of Amul Dairy by expanding its product portfolio into value-added dairy items that cater to health-conscious consumers. This can be achieved through strategic partnerships with other players in the market.</a:t>
            </a:r>
          </a:p>
        </p:txBody>
      </p:sp>
      <p:sp>
        <p:nvSpPr>
          <p:cNvPr id="8" name="Rounded Rectangle 7"/>
          <p:cNvSpPr/>
          <p:nvPr/>
        </p:nvSpPr>
        <p:spPr>
          <a:xfrm>
            <a:off x="548640" y="2743200"/>
            <a:ext cx="11094415" cy="960120"/>
          </a:xfrm>
          <a:prstGeom prst="roundRect">
            <a:avLst>
              <a:gd name="adj" fmla="val 4500"/>
            </a:avLst>
          </a:prstGeom>
          <a:solidFill>
            <a:srgbClr val="F6F8FD"/>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297180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800" b="1">
                <a:solidFill>
                  <a:srgbClr val="FFFFFF"/>
                </a:solidFill>
                <a:latin typeface="Calibri"/>
              </a:rPr>
              <a:t>2</a:t>
            </a:r>
          </a:p>
        </p:txBody>
      </p:sp>
      <p:sp>
        <p:nvSpPr>
          <p:cNvPr id="10" name="TextBox 9"/>
          <p:cNvSpPr txBox="1"/>
          <p:nvPr/>
        </p:nvSpPr>
        <p:spPr>
          <a:xfrm>
            <a:off x="1554480" y="2743200"/>
            <a:ext cx="9722815" cy="960120"/>
          </a:xfrm>
          <a:prstGeom prst="rect">
            <a:avLst/>
          </a:prstGeom>
          <a:noFill/>
        </p:spPr>
        <p:txBody>
          <a:bodyPr wrap="square" lIns="0" rIns="0" tIns="0" bIns="0" anchor="ctr">
            <a:noAutofit/>
          </a:bodyPr>
          <a:lstStyle/>
          <a:p>
            <a:pPr algn="l">
              <a:lnSpc>
                <a:spcPct val="120000"/>
              </a:lnSpc>
            </a:pPr>
            <a:r>
              <a:rPr sz="1500" b="0" i="0">
                <a:solidFill>
                  <a:srgbClr val="1B1E2B"/>
                </a:solidFill>
                <a:latin typeface="Calibri"/>
              </a:rPr>
              <a:t>Invest in modern farming techniques and infrastructure for smallholder farmers, providing them with access to credit facilities and training programs to improve their productivity and profitability.</a:t>
            </a:r>
          </a:p>
        </p:txBody>
      </p:sp>
      <p:sp>
        <p:nvSpPr>
          <p:cNvPr id="11" name="Rounded Rectangle 10"/>
          <p:cNvSpPr/>
          <p:nvPr/>
        </p:nvSpPr>
        <p:spPr>
          <a:xfrm>
            <a:off x="548640" y="3931920"/>
            <a:ext cx="11094415" cy="960120"/>
          </a:xfrm>
          <a:prstGeom prst="roundRect">
            <a:avLst>
              <a:gd name="adj" fmla="val 4500"/>
            </a:avLst>
          </a:prstGeom>
          <a:solidFill>
            <a:srgbClr val="F6F8FD"/>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416052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800" b="1">
                <a:solidFill>
                  <a:srgbClr val="FFFFFF"/>
                </a:solidFill>
                <a:latin typeface="Calibri"/>
              </a:rPr>
              <a:t>3</a:t>
            </a:r>
          </a:p>
        </p:txBody>
      </p:sp>
      <p:sp>
        <p:nvSpPr>
          <p:cNvPr id="13" name="TextBox 12"/>
          <p:cNvSpPr txBox="1"/>
          <p:nvPr/>
        </p:nvSpPr>
        <p:spPr>
          <a:xfrm>
            <a:off x="1554480" y="3931920"/>
            <a:ext cx="9722815" cy="960120"/>
          </a:xfrm>
          <a:prstGeom prst="rect">
            <a:avLst/>
          </a:prstGeom>
          <a:noFill/>
        </p:spPr>
        <p:txBody>
          <a:bodyPr wrap="square" lIns="0" rIns="0" tIns="0" bIns="0" anchor="ctr">
            <a:noAutofit/>
          </a:bodyPr>
          <a:lstStyle/>
          <a:p>
            <a:pPr algn="l">
              <a:lnSpc>
                <a:spcPct val="120000"/>
              </a:lnSpc>
            </a:pPr>
            <a:r>
              <a:rPr sz="1500" b="0" i="0">
                <a:solidFill>
                  <a:srgbClr val="1B1E2B"/>
                </a:solidFill>
                <a:latin typeface="Calibri"/>
              </a:rPr>
              <a:t>Develop a strong digital presence by integrating technology into dairy farming operations to enhance efficiency and reduce costs. This can be done through partnerships with tech companies specializing in agricultural solutions.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420624" cy="420624"/>
          </a:xfrm>
          <a:prstGeom prst="ellipse">
            <a:avLst/>
          </a:prstGeom>
          <a:solidFill>
            <a:srgbClr val="1E825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00" b="1">
                <a:solidFill>
                  <a:srgbClr val="FFFFFF"/>
                </a:solidFill>
                <a:latin typeface="Calibri"/>
              </a:rPr>
              <a:t>$</a:t>
            </a:r>
          </a:p>
        </p:txBody>
      </p:sp>
      <p:sp>
        <p:nvSpPr>
          <p:cNvPr id="3" name="TextBox 2"/>
          <p:cNvSpPr txBox="1"/>
          <p:nvPr/>
        </p:nvSpPr>
        <p:spPr>
          <a:xfrm>
            <a:off x="1133856" y="484632"/>
            <a:ext cx="8686800" cy="457200"/>
          </a:xfrm>
          <a:prstGeom prst="rect">
            <a:avLst/>
          </a:prstGeom>
          <a:noFill/>
        </p:spPr>
        <p:txBody>
          <a:bodyPr wrap="square" lIns="0" rIns="0" tIns="0" bIns="0" anchor="ctr">
            <a:noAutofit/>
          </a:bodyPr>
          <a:lstStyle/>
          <a:p>
            <a:pPr algn="l">
              <a:lnSpc>
                <a:spcPct val="115000"/>
              </a:lnSpc>
            </a:pPr>
            <a:r>
              <a:rPr sz="2200" b="1" i="0">
                <a:solidFill>
                  <a:srgbClr val="1E2761"/>
                </a:solidFill>
                <a:latin typeface="Cambria"/>
              </a:rPr>
              <a:t>Financial Estimate</a:t>
            </a:r>
          </a:p>
        </p:txBody>
      </p:sp>
      <p:sp>
        <p:nvSpPr>
          <p:cNvPr id="4" name="TextBox 3"/>
          <p:cNvSpPr txBox="1"/>
          <p:nvPr/>
        </p:nvSpPr>
        <p:spPr>
          <a:xfrm>
            <a:off x="1133856" y="886968"/>
            <a:ext cx="8686800" cy="320040"/>
          </a:xfrm>
          <a:prstGeom prst="rect">
            <a:avLst/>
          </a:prstGeom>
          <a:noFill/>
        </p:spPr>
        <p:txBody>
          <a:bodyPr wrap="square" lIns="0" rIns="0" tIns="0" bIns="0" anchor="t">
            <a:noAutofit/>
          </a:bodyPr>
          <a:lstStyle/>
          <a:p>
            <a:pPr algn="l">
              <a:lnSpc>
                <a:spcPct val="115000"/>
              </a:lnSpc>
            </a:pPr>
            <a:r>
              <a:rPr sz="1200" b="0" i="0">
                <a:solidFill>
                  <a:srgbClr val="5B637A"/>
                </a:solidFill>
                <a:latin typeface="Calibri"/>
              </a:rPr>
              <a:t>Investment, revenue outlook, and path to breakeven</a:t>
            </a:r>
          </a:p>
        </p:txBody>
      </p:sp>
      <p:sp>
        <p:nvSpPr>
          <p:cNvPr id="5" name="Rounded Rectangle 4"/>
          <p:cNvSpPr/>
          <p:nvPr/>
        </p:nvSpPr>
        <p:spPr>
          <a:xfrm>
            <a:off x="548640" y="1508760"/>
            <a:ext cx="3383280" cy="1371600"/>
          </a:xfrm>
          <a:prstGeom prst="roundRect">
            <a:avLst>
              <a:gd name="adj" fmla="val 4500"/>
            </a:avLst>
          </a:prstGeom>
          <a:solidFill>
            <a:srgbClr val="F6F8FD"/>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73352"/>
            <a:ext cx="2834640" cy="365760"/>
          </a:xfrm>
          <a:prstGeom prst="rect">
            <a:avLst/>
          </a:prstGeom>
          <a:noFill/>
        </p:spPr>
        <p:txBody>
          <a:bodyPr wrap="square" lIns="0" rIns="0" tIns="0" bIns="0" anchor="t">
            <a:noAutofit/>
          </a:bodyPr>
          <a:lstStyle/>
          <a:p>
            <a:pPr algn="l">
              <a:lnSpc>
                <a:spcPct val="115000"/>
              </a:lnSpc>
            </a:pPr>
            <a:r>
              <a:rPr sz="1000" b="1" i="0">
                <a:solidFill>
                  <a:srgbClr val="5B637A"/>
                </a:solidFill>
                <a:latin typeface="Calibri"/>
              </a:rPr>
              <a:t>INITIAL INVESTMENT</a:t>
            </a:r>
          </a:p>
        </p:txBody>
      </p:sp>
      <p:sp>
        <p:nvSpPr>
          <p:cNvPr id="7" name="TextBox 6"/>
          <p:cNvSpPr txBox="1"/>
          <p:nvPr/>
        </p:nvSpPr>
        <p:spPr>
          <a:xfrm>
            <a:off x="822960" y="2011680"/>
            <a:ext cx="2834640" cy="731520"/>
          </a:xfrm>
          <a:prstGeom prst="rect">
            <a:avLst/>
          </a:prstGeom>
          <a:noFill/>
        </p:spPr>
        <p:txBody>
          <a:bodyPr wrap="square" lIns="0" rIns="0" tIns="0" bIns="0" anchor="t">
            <a:noAutofit/>
          </a:bodyPr>
          <a:lstStyle/>
          <a:p>
            <a:pPr algn="l">
              <a:lnSpc>
                <a:spcPct val="115000"/>
              </a:lnSpc>
            </a:pPr>
            <a:r>
              <a:rPr sz="2400" b="1" i="0">
                <a:solidFill>
                  <a:srgbClr val="2A5CC8"/>
                </a:solidFill>
                <a:latin typeface="Cambria"/>
              </a:rPr>
              <a:t>—</a:t>
            </a:r>
          </a:p>
        </p:txBody>
      </p:sp>
      <p:sp>
        <p:nvSpPr>
          <p:cNvPr id="8" name="Rounded Rectangle 7"/>
          <p:cNvSpPr/>
          <p:nvPr/>
        </p:nvSpPr>
        <p:spPr>
          <a:xfrm>
            <a:off x="4251960" y="1508760"/>
            <a:ext cx="3383280" cy="1371600"/>
          </a:xfrm>
          <a:prstGeom prst="roundRect">
            <a:avLst>
              <a:gd name="adj" fmla="val 4500"/>
            </a:avLst>
          </a:prstGeom>
          <a:solidFill>
            <a:srgbClr val="F6F8FD"/>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673352"/>
            <a:ext cx="2834640" cy="365760"/>
          </a:xfrm>
          <a:prstGeom prst="rect">
            <a:avLst/>
          </a:prstGeom>
          <a:noFill/>
        </p:spPr>
        <p:txBody>
          <a:bodyPr wrap="square" lIns="0" rIns="0" tIns="0" bIns="0" anchor="t">
            <a:noAutofit/>
          </a:bodyPr>
          <a:lstStyle/>
          <a:p>
            <a:pPr algn="l">
              <a:lnSpc>
                <a:spcPct val="115000"/>
              </a:lnSpc>
            </a:pPr>
            <a:r>
              <a:rPr sz="1000" b="1" i="0">
                <a:solidFill>
                  <a:srgbClr val="5B637A"/>
                </a:solidFill>
                <a:latin typeface="Calibri"/>
              </a:rPr>
              <a:t>YEAR 1 REVENUE</a:t>
            </a:r>
          </a:p>
        </p:txBody>
      </p:sp>
      <p:sp>
        <p:nvSpPr>
          <p:cNvPr id="10" name="TextBox 9"/>
          <p:cNvSpPr txBox="1"/>
          <p:nvPr/>
        </p:nvSpPr>
        <p:spPr>
          <a:xfrm>
            <a:off x="4526280" y="2011680"/>
            <a:ext cx="2834640" cy="731520"/>
          </a:xfrm>
          <a:prstGeom prst="rect">
            <a:avLst/>
          </a:prstGeom>
          <a:noFill/>
        </p:spPr>
        <p:txBody>
          <a:bodyPr wrap="square" lIns="0" rIns="0" tIns="0" bIns="0" anchor="t">
            <a:noAutofit/>
          </a:bodyPr>
          <a:lstStyle/>
          <a:p>
            <a:pPr algn="l">
              <a:lnSpc>
                <a:spcPct val="115000"/>
              </a:lnSpc>
            </a:pPr>
            <a:r>
              <a:rPr sz="2400" b="1" i="0">
                <a:solidFill>
                  <a:srgbClr val="1E8253"/>
                </a:solidFill>
                <a:latin typeface="Cambria"/>
              </a:rPr>
              <a:t>$200 million</a:t>
            </a:r>
          </a:p>
        </p:txBody>
      </p:sp>
      <p:sp>
        <p:nvSpPr>
          <p:cNvPr id="11" name="Rounded Rectangle 10"/>
          <p:cNvSpPr/>
          <p:nvPr/>
        </p:nvSpPr>
        <p:spPr>
          <a:xfrm>
            <a:off x="7955280" y="1508760"/>
            <a:ext cx="3383280" cy="1371600"/>
          </a:xfrm>
          <a:prstGeom prst="roundRect">
            <a:avLst>
              <a:gd name="adj" fmla="val 4500"/>
            </a:avLst>
          </a:prstGeom>
          <a:solidFill>
            <a:srgbClr val="F6F8FD"/>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673352"/>
            <a:ext cx="2834640" cy="365760"/>
          </a:xfrm>
          <a:prstGeom prst="rect">
            <a:avLst/>
          </a:prstGeom>
          <a:noFill/>
        </p:spPr>
        <p:txBody>
          <a:bodyPr wrap="square" lIns="0" rIns="0" tIns="0" bIns="0" anchor="t">
            <a:noAutofit/>
          </a:bodyPr>
          <a:lstStyle/>
          <a:p>
            <a:pPr algn="l">
              <a:lnSpc>
                <a:spcPct val="115000"/>
              </a:lnSpc>
            </a:pPr>
            <a:r>
              <a:rPr sz="1000" b="1" i="0">
                <a:solidFill>
                  <a:srgbClr val="5B637A"/>
                </a:solidFill>
                <a:latin typeface="Calibri"/>
              </a:rPr>
              <a:t>BREAKEVEN TIMELINE</a:t>
            </a:r>
          </a:p>
        </p:txBody>
      </p:sp>
      <p:sp>
        <p:nvSpPr>
          <p:cNvPr id="13" name="TextBox 12"/>
          <p:cNvSpPr txBox="1"/>
          <p:nvPr/>
        </p:nvSpPr>
        <p:spPr>
          <a:xfrm>
            <a:off x="8229600" y="2011680"/>
            <a:ext cx="2834640" cy="731520"/>
          </a:xfrm>
          <a:prstGeom prst="rect">
            <a:avLst/>
          </a:prstGeom>
          <a:noFill/>
        </p:spPr>
        <p:txBody>
          <a:bodyPr wrap="square" lIns="0" rIns="0" tIns="0" bIns="0" anchor="t">
            <a:noAutofit/>
          </a:bodyPr>
          <a:lstStyle/>
          <a:p>
            <a:pPr algn="l">
              <a:lnSpc>
                <a:spcPct val="115000"/>
              </a:lnSpc>
            </a:pPr>
            <a:r>
              <a:rPr sz="2400" b="1" i="0">
                <a:solidFill>
                  <a:srgbClr val="A87312"/>
                </a:solidFill>
                <a:latin typeface="Cambria"/>
              </a:rPr>
              <a:t>Within 3 years</a:t>
            </a:r>
          </a:p>
        </p:txBody>
      </p:sp>
      <p:sp>
        <p:nvSpPr>
          <p:cNvPr id="14" name="TextBox 13"/>
          <p:cNvSpPr txBox="1"/>
          <p:nvPr/>
        </p:nvSpPr>
        <p:spPr>
          <a:xfrm>
            <a:off x="548640" y="2926080"/>
            <a:ext cx="5486400" cy="274320"/>
          </a:xfrm>
          <a:prstGeom prst="rect">
            <a:avLst/>
          </a:prstGeom>
          <a:noFill/>
        </p:spPr>
        <p:txBody>
          <a:bodyPr wrap="square" lIns="0" rIns="0" tIns="0" bIns="0" anchor="t">
            <a:noAutofit/>
          </a:bodyPr>
          <a:lstStyle/>
          <a:p>
            <a:pPr algn="l">
              <a:lnSpc>
                <a:spcPct val="115000"/>
              </a:lnSpc>
            </a:pPr>
            <a:r>
              <a:rPr sz="1100" b="1" i="0">
                <a:solidFill>
                  <a:srgbClr val="5B637A"/>
                </a:solidFill>
                <a:latin typeface="Calibri"/>
              </a:rPr>
              <a:t>REVENUE PROJECTION</a:t>
            </a:r>
          </a:p>
        </p:txBody>
      </p:sp>
      <p:graphicFrame>
        <p:nvGraphicFramePr>
          <p:cNvPr id="15" name="Table 14"/>
          <p:cNvGraphicFramePr>
            <a:graphicFrameLocks noGrp="1"/>
          </p:cNvGraphicFramePr>
          <p:nvPr/>
        </p:nvGraphicFramePr>
        <p:xfrm>
          <a:off x="548640" y="3200400"/>
          <a:ext cx="4206240" cy="1965960"/>
        </p:xfrm>
        <a:graphic>
          <a:graphicData uri="http://schemas.openxmlformats.org/drawingml/2006/table">
            <a:tbl>
              <a:tblPr bandRow="1">
                <a:tableStyleId>{5C22544A-7EE6-4342-B048-85BDC9FD1C3A}</a:tableStyleId>
              </a:tblPr>
              <a:tblGrid>
                <a:gridCol w="1828800"/>
                <a:gridCol w="2377440"/>
              </a:tblGrid>
              <a:tr h="491490">
                <a:tc>
                  <a:txBody>
                    <a:bodyPr/>
                    <a:lstStyle/>
                    <a:p>
                      <a:pPr algn="l"/>
                      <a:r>
                        <a:rPr b="1" sz="1200">
                          <a:solidFill>
                            <a:srgbClr val="FFFFFF"/>
                          </a:solidFill>
                          <a:latin typeface="Calibri"/>
                        </a:rPr>
                        <a:t>Period</a:t>
                      </a:r>
                    </a:p>
                  </a:txBody>
                  <a:tcPr anchor="ctr">
                    <a:solidFill>
                      <a:srgbClr val="1E2761"/>
                    </a:solidFill>
                  </a:tcPr>
                </a:tc>
                <a:tc>
                  <a:txBody>
                    <a:bodyPr/>
                    <a:lstStyle/>
                    <a:p>
                      <a:pPr algn="l"/>
                      <a:r>
                        <a:rPr b="1" sz="1200">
                          <a:solidFill>
                            <a:srgbClr val="FFFFFF"/>
                          </a:solidFill>
                          <a:latin typeface="Calibri"/>
                        </a:rPr>
                        <a:t>Revenue</a:t>
                      </a:r>
                    </a:p>
                  </a:txBody>
                  <a:tcPr anchor="ctr">
                    <a:solidFill>
                      <a:srgbClr val="1E2761"/>
                    </a:solidFill>
                  </a:tcPr>
                </a:tc>
              </a:tr>
              <a:tr h="491490">
                <a:tc>
                  <a:txBody>
                    <a:bodyPr/>
                    <a:lstStyle/>
                    <a:p>
                      <a:pPr algn="l"/>
                      <a:r>
                        <a:rPr sz="1300">
                          <a:solidFill>
                            <a:srgbClr val="1B1E2B"/>
                          </a:solidFill>
                          <a:latin typeface="Calibri"/>
                        </a:rPr>
                        <a:t>Year 1</a:t>
                      </a:r>
                    </a:p>
                  </a:txBody>
                  <a:tcPr anchor="ctr">
                    <a:solidFill>
                      <a:srgbClr val="FFFFFF"/>
                    </a:solidFill>
                  </a:tcPr>
                </a:tc>
                <a:tc>
                  <a:txBody>
                    <a:bodyPr/>
                    <a:lstStyle/>
                    <a:p>
                      <a:pPr algn="l"/>
                      <a:r>
                        <a:rPr sz="1300">
                          <a:solidFill>
                            <a:srgbClr val="1B1E2B"/>
                          </a:solidFill>
                          <a:latin typeface="Calibri"/>
                        </a:rPr>
                        <a:t>$200 million</a:t>
                      </a:r>
                    </a:p>
                  </a:txBody>
                  <a:tcPr anchor="ctr">
                    <a:solidFill>
                      <a:srgbClr val="FFFFFF"/>
                    </a:solidFill>
                  </a:tcPr>
                </a:tc>
              </a:tr>
              <a:tr h="491490">
                <a:tc>
                  <a:txBody>
                    <a:bodyPr/>
                    <a:lstStyle/>
                    <a:p>
                      <a:pPr algn="l"/>
                      <a:r>
                        <a:rPr sz="1300">
                          <a:solidFill>
                            <a:srgbClr val="1B1E2B"/>
                          </a:solidFill>
                          <a:latin typeface="Calibri"/>
                        </a:rPr>
                        <a:t>Year 2</a:t>
                      </a:r>
                    </a:p>
                  </a:txBody>
                  <a:tcPr anchor="ctr">
                    <a:solidFill>
                      <a:srgbClr val="FFFFFF"/>
                    </a:solidFill>
                  </a:tcPr>
                </a:tc>
                <a:tc>
                  <a:txBody>
                    <a:bodyPr/>
                    <a:lstStyle/>
                    <a:p>
                      <a:pPr algn="l"/>
                      <a:r>
                        <a:rPr sz="1300">
                          <a:solidFill>
                            <a:srgbClr val="1B1E2B"/>
                          </a:solidFill>
                          <a:latin typeface="Calibri"/>
                        </a:rPr>
                        <a:t>$300 million</a:t>
                      </a:r>
                    </a:p>
                  </a:txBody>
                  <a:tcPr anchor="ctr">
                    <a:solidFill>
                      <a:srgbClr val="FFFFFF"/>
                    </a:solidFill>
                  </a:tcPr>
                </a:tc>
              </a:tr>
              <a:tr h="491490">
                <a:tc>
                  <a:txBody>
                    <a:bodyPr/>
                    <a:lstStyle/>
                    <a:p>
                      <a:pPr algn="l"/>
                      <a:r>
                        <a:rPr sz="1300">
                          <a:solidFill>
                            <a:srgbClr val="1B1E2B"/>
                          </a:solidFill>
                          <a:latin typeface="Calibri"/>
                        </a:rPr>
                        <a:t>Year 3</a:t>
                      </a:r>
                    </a:p>
                  </a:txBody>
                  <a:tcPr anchor="ctr">
                    <a:solidFill>
                      <a:srgbClr val="FFFFFF"/>
                    </a:solidFill>
                  </a:tcPr>
                </a:tc>
                <a:tc>
                  <a:txBody>
                    <a:bodyPr/>
                    <a:lstStyle/>
                    <a:p>
                      <a:pPr algn="l"/>
                      <a:r>
                        <a:rPr sz="1300">
                          <a:solidFill>
                            <a:srgbClr val="1B1E2B"/>
                          </a:solidFill>
                          <a:latin typeface="Calibri"/>
                        </a:rPr>
                        <a:t>$400 million</a:t>
                      </a:r>
                    </a:p>
                  </a:txBody>
                  <a:tcPr anchor="ctr">
                    <a:solidFill>
                      <a:srgbClr val="FFFFFF"/>
                    </a:solidFill>
                  </a:tcPr>
                </a:tc>
              </a:tr>
            </a:tbl>
          </a:graphicData>
        </a:graphic>
      </p:graphicFrame>
      <p:sp>
        <p:nvSpPr>
          <p:cNvPr id="16" name="Rounded Rectangle 15"/>
          <p:cNvSpPr/>
          <p:nvPr/>
        </p:nvSpPr>
        <p:spPr>
          <a:xfrm>
            <a:off x="5486400" y="3246120"/>
            <a:ext cx="2697480" cy="457200"/>
          </a:xfrm>
          <a:prstGeom prst="roundRect">
            <a:avLst>
              <a:gd name="adj" fmla="val 25000"/>
            </a:avLst>
          </a:prstGeom>
          <a:solidFill>
            <a:srgbClr val="2A5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3246120"/>
            <a:ext cx="1280160" cy="457200"/>
          </a:xfrm>
          <a:prstGeom prst="rect">
            <a:avLst/>
          </a:prstGeom>
          <a:noFill/>
        </p:spPr>
        <p:txBody>
          <a:bodyPr wrap="square" lIns="0" rIns="0" tIns="0" bIns="0" anchor="ctr">
            <a:noAutofit/>
          </a:bodyPr>
          <a:lstStyle/>
          <a:p>
            <a:pPr algn="l">
              <a:lnSpc>
                <a:spcPct val="115000"/>
              </a:lnSpc>
            </a:pPr>
            <a:r>
              <a:rPr sz="1200" b="1" i="0">
                <a:solidFill>
                  <a:srgbClr val="1B1E2B"/>
                </a:solidFill>
                <a:latin typeface="Calibri"/>
              </a:rPr>
              <a:t>$200 million</a:t>
            </a:r>
          </a:p>
        </p:txBody>
      </p:sp>
      <p:sp>
        <p:nvSpPr>
          <p:cNvPr id="18" name="Rounded Rectangle 17"/>
          <p:cNvSpPr/>
          <p:nvPr/>
        </p:nvSpPr>
        <p:spPr>
          <a:xfrm>
            <a:off x="5486400" y="3931920"/>
            <a:ext cx="3817620" cy="457200"/>
          </a:xfrm>
          <a:prstGeom prst="roundRect">
            <a:avLst>
              <a:gd name="adj" fmla="val 2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41180" y="3931920"/>
            <a:ext cx="1280160" cy="457200"/>
          </a:xfrm>
          <a:prstGeom prst="rect">
            <a:avLst/>
          </a:prstGeom>
          <a:noFill/>
        </p:spPr>
        <p:txBody>
          <a:bodyPr wrap="square" lIns="0" rIns="0" tIns="0" bIns="0" anchor="ctr">
            <a:noAutofit/>
          </a:bodyPr>
          <a:lstStyle/>
          <a:p>
            <a:pPr algn="l">
              <a:lnSpc>
                <a:spcPct val="115000"/>
              </a:lnSpc>
            </a:pPr>
            <a:r>
              <a:rPr sz="1200" b="1" i="0">
                <a:solidFill>
                  <a:srgbClr val="1B1E2B"/>
                </a:solidFill>
                <a:latin typeface="Calibri"/>
              </a:rPr>
              <a:t>$300 million</a:t>
            </a:r>
          </a:p>
        </p:txBody>
      </p:sp>
      <p:sp>
        <p:nvSpPr>
          <p:cNvPr id="20" name="Rounded Rectangle 19"/>
          <p:cNvSpPr/>
          <p:nvPr/>
        </p:nvSpPr>
        <p:spPr>
          <a:xfrm>
            <a:off x="5486400" y="4617720"/>
            <a:ext cx="4937760" cy="457200"/>
          </a:xfrm>
          <a:prstGeom prst="roundRect">
            <a:avLst>
              <a:gd name="adj" fmla="val 25000"/>
            </a:avLst>
          </a:prstGeom>
          <a:solidFill>
            <a:srgbClr val="1E82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61320" y="4617720"/>
            <a:ext cx="1280160" cy="457200"/>
          </a:xfrm>
          <a:prstGeom prst="rect">
            <a:avLst/>
          </a:prstGeom>
          <a:noFill/>
        </p:spPr>
        <p:txBody>
          <a:bodyPr wrap="square" lIns="0" rIns="0" tIns="0" bIns="0" anchor="ctr">
            <a:noAutofit/>
          </a:bodyPr>
          <a:lstStyle/>
          <a:p>
            <a:pPr algn="l">
              <a:lnSpc>
                <a:spcPct val="115000"/>
              </a:lnSpc>
            </a:pPr>
            <a:r>
              <a:rPr sz="1200" b="1" i="0">
                <a:solidFill>
                  <a:srgbClr val="1B1E2B"/>
                </a:solidFill>
                <a:latin typeface="Calibri"/>
              </a:rPr>
              <a:t>$400 million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548640" y="640080"/>
            <a:ext cx="9144000" cy="548640"/>
          </a:xfrm>
          <a:prstGeom prst="rect">
            <a:avLst/>
          </a:prstGeom>
          <a:noFill/>
        </p:spPr>
        <p:txBody>
          <a:bodyPr wrap="square" lIns="0" rIns="0" tIns="0" bIns="0" anchor="t">
            <a:noAutofit/>
          </a:bodyPr>
          <a:lstStyle/>
          <a:p>
            <a:pPr algn="l">
              <a:lnSpc>
                <a:spcPct val="115000"/>
              </a:lnSpc>
            </a:pPr>
            <a:r>
              <a:rPr sz="3000" b="1" i="0">
                <a:solidFill>
                  <a:srgbClr val="FFFFFF"/>
                </a:solidFill>
                <a:latin typeface="Cambria"/>
              </a:rPr>
              <a:t>Recommendations</a:t>
            </a:r>
          </a:p>
        </p:txBody>
      </p:sp>
      <p:sp>
        <p:nvSpPr>
          <p:cNvPr id="3" name="TextBox 2"/>
          <p:cNvSpPr txBox="1"/>
          <p:nvPr/>
        </p:nvSpPr>
        <p:spPr>
          <a:xfrm>
            <a:off x="548640" y="1188720"/>
            <a:ext cx="9144000" cy="365760"/>
          </a:xfrm>
          <a:prstGeom prst="rect">
            <a:avLst/>
          </a:prstGeom>
          <a:noFill/>
        </p:spPr>
        <p:txBody>
          <a:bodyPr wrap="square" lIns="0" rIns="0" tIns="0" bIns="0" anchor="t">
            <a:noAutofit/>
          </a:bodyPr>
          <a:lstStyle/>
          <a:p>
            <a:pPr algn="l">
              <a:lnSpc>
                <a:spcPct val="115000"/>
              </a:lnSpc>
            </a:pPr>
            <a:r>
              <a:rPr sz="1300" b="0" i="0">
                <a:solidFill>
                  <a:srgbClr val="CADCFC"/>
                </a:solidFill>
                <a:latin typeface="Calibri"/>
              </a:rPr>
              <a:t>What the partner team advises doing next</a:t>
            </a:r>
          </a:p>
        </p:txBody>
      </p:sp>
      <p:sp>
        <p:nvSpPr>
          <p:cNvPr id="4" name="Oval 3"/>
          <p:cNvSpPr/>
          <p:nvPr/>
        </p:nvSpPr>
        <p:spPr>
          <a:xfrm>
            <a:off x="548640" y="2103120"/>
            <a:ext cx="548640" cy="54864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1E2761"/>
                </a:solidFill>
                <a:latin typeface="Calibri"/>
              </a:rPr>
              <a:t>1</a:t>
            </a:r>
          </a:p>
        </p:txBody>
      </p:sp>
      <p:sp>
        <p:nvSpPr>
          <p:cNvPr id="5" name="TextBox 4"/>
          <p:cNvSpPr txBox="1"/>
          <p:nvPr/>
        </p:nvSpPr>
        <p:spPr>
          <a:xfrm>
            <a:off x="1325880" y="1920240"/>
            <a:ext cx="10317175" cy="960120"/>
          </a:xfrm>
          <a:prstGeom prst="rect">
            <a:avLst/>
          </a:prstGeom>
          <a:noFill/>
        </p:spPr>
        <p:txBody>
          <a:bodyPr wrap="square" lIns="0" rIns="0" tIns="0" bIns="0" anchor="ctr">
            <a:noAutofit/>
          </a:bodyPr>
          <a:lstStyle/>
          <a:p>
            <a:pPr algn="l">
              <a:lnSpc>
                <a:spcPct val="120000"/>
              </a:lnSpc>
            </a:pPr>
            <a:r>
              <a:rPr sz="1600" b="0" i="0">
                <a:solidFill>
                  <a:srgbClr val="FFFFFF"/>
                </a:solidFill>
                <a:latin typeface="Calibri"/>
              </a:rPr>
              <a:t>Leverage strategic partnerships to expand Amul Dairy's product portfolio and market reach.</a:t>
            </a:r>
          </a:p>
        </p:txBody>
      </p:sp>
      <p:sp>
        <p:nvSpPr>
          <p:cNvPr id="6" name="Oval 5"/>
          <p:cNvSpPr/>
          <p:nvPr/>
        </p:nvSpPr>
        <p:spPr>
          <a:xfrm>
            <a:off x="548640" y="3264408"/>
            <a:ext cx="548640" cy="54864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1E2761"/>
                </a:solidFill>
                <a:latin typeface="Calibri"/>
              </a:rPr>
              <a:t>2</a:t>
            </a:r>
          </a:p>
        </p:txBody>
      </p:sp>
      <p:sp>
        <p:nvSpPr>
          <p:cNvPr id="7" name="TextBox 6"/>
          <p:cNvSpPr txBox="1"/>
          <p:nvPr/>
        </p:nvSpPr>
        <p:spPr>
          <a:xfrm>
            <a:off x="1325880" y="3081528"/>
            <a:ext cx="10317175" cy="960120"/>
          </a:xfrm>
          <a:prstGeom prst="rect">
            <a:avLst/>
          </a:prstGeom>
          <a:noFill/>
        </p:spPr>
        <p:txBody>
          <a:bodyPr wrap="square" lIns="0" rIns="0" tIns="0" bIns="0" anchor="ctr">
            <a:noAutofit/>
          </a:bodyPr>
          <a:lstStyle/>
          <a:p>
            <a:pPr algn="l">
              <a:lnSpc>
                <a:spcPct val="120000"/>
              </a:lnSpc>
            </a:pPr>
            <a:r>
              <a:rPr sz="1600" b="0" i="0">
                <a:solidFill>
                  <a:srgbClr val="FFFFFF"/>
                </a:solidFill>
                <a:latin typeface="Calibri"/>
              </a:rPr>
              <a:t>Invest in modern farming techniques and infrastructure for smallholder farmers, providing them with access to credit facilities and training programs.</a:t>
            </a:r>
          </a:p>
        </p:txBody>
      </p:sp>
      <p:sp>
        <p:nvSpPr>
          <p:cNvPr id="8" name="Oval 7"/>
          <p:cNvSpPr/>
          <p:nvPr/>
        </p:nvSpPr>
        <p:spPr>
          <a:xfrm>
            <a:off x="548640" y="4425696"/>
            <a:ext cx="548640" cy="54864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a:solidFill>
                  <a:srgbClr val="1E2761"/>
                </a:solidFill>
                <a:latin typeface="Calibri"/>
              </a:rPr>
              <a:t>3</a:t>
            </a:r>
          </a:p>
        </p:txBody>
      </p:sp>
      <p:sp>
        <p:nvSpPr>
          <p:cNvPr id="9" name="TextBox 8"/>
          <p:cNvSpPr txBox="1"/>
          <p:nvPr/>
        </p:nvSpPr>
        <p:spPr>
          <a:xfrm>
            <a:off x="1325880" y="4242816"/>
            <a:ext cx="10317175" cy="960120"/>
          </a:xfrm>
          <a:prstGeom prst="rect">
            <a:avLst/>
          </a:prstGeom>
          <a:noFill/>
        </p:spPr>
        <p:txBody>
          <a:bodyPr wrap="square" lIns="0" rIns="0" tIns="0" bIns="0" anchor="ctr">
            <a:noAutofit/>
          </a:bodyPr>
          <a:lstStyle/>
          <a:p>
            <a:pPr algn="l">
              <a:lnSpc>
                <a:spcPct val="120000"/>
              </a:lnSpc>
            </a:pPr>
            <a:r>
              <a:rPr sz="1600" b="0" i="0">
                <a:solidFill>
                  <a:srgbClr val="FFFFFF"/>
                </a:solidFill>
                <a:latin typeface="Calibri"/>
              </a:rPr>
              <a:t>Develop smart farm technologies through partnerships with tech companies specializing in agricultural solutions.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1280160" y="3840480"/>
            <a:ext cx="4206240" cy="4206240"/>
          </a:xfrm>
          <a:prstGeom prst="ellipse">
            <a:avLst/>
          </a:prstGeom>
          <a:solidFill>
            <a:srgbClr val="121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0"/>
            <a:ext cx="10515600" cy="822960"/>
          </a:xfrm>
          <a:prstGeom prst="rect">
            <a:avLst/>
          </a:prstGeom>
          <a:noFill/>
        </p:spPr>
        <p:txBody>
          <a:bodyPr wrap="square" lIns="0" rIns="0" tIns="0" bIns="0" anchor="t">
            <a:noAutofit/>
          </a:bodyPr>
          <a:lstStyle/>
          <a:p>
            <a:pPr algn="l">
              <a:lnSpc>
                <a:spcPct val="115000"/>
              </a:lnSpc>
            </a:pPr>
            <a:r>
              <a:rPr sz="4000" b="1" i="0">
                <a:solidFill>
                  <a:srgbClr val="FFFFFF"/>
                </a:solidFill>
                <a:latin typeface="Cambria"/>
              </a:rPr>
              <a:t>Thank You</a:t>
            </a:r>
          </a:p>
        </p:txBody>
      </p:sp>
      <p:sp>
        <p:nvSpPr>
          <p:cNvPr id="4" name="TextBox 3"/>
          <p:cNvSpPr txBox="1"/>
          <p:nvPr/>
        </p:nvSpPr>
        <p:spPr>
          <a:xfrm>
            <a:off x="548640" y="3520440"/>
            <a:ext cx="10515600" cy="457200"/>
          </a:xfrm>
          <a:prstGeom prst="rect">
            <a:avLst/>
          </a:prstGeom>
          <a:noFill/>
        </p:spPr>
        <p:txBody>
          <a:bodyPr wrap="square" lIns="0" rIns="0" tIns="0" bIns="0" anchor="t">
            <a:noAutofit/>
          </a:bodyPr>
          <a:lstStyle/>
          <a:p>
            <a:pPr algn="l">
              <a:lnSpc>
                <a:spcPct val="115000"/>
              </a:lnSpc>
            </a:pPr>
            <a:r>
              <a:rPr sz="1400" b="0" i="0">
                <a:solidFill>
                  <a:srgbClr val="CADCFC"/>
                </a:solidFill>
                <a:latin typeface="Calibri"/>
              </a:rPr>
              <a:t>Generated by the AI Consultant Agent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