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Consultant Agent Team</a:t>
            </a:r>
          </a:p>
        </p:txBody>
      </p:sp>
      <p:sp>
        <p:nvSpPr>
          <p:cNvPr id="3" name="Subtitle 2"/>
          <p:cNvSpPr>
            <a:spLocks noGrp="1"/>
          </p:cNvSpPr>
          <p:nvPr>
            <p:ph type="subTitle" idx="1"/>
          </p:nvPr>
        </p:nvSpPr>
        <p:spPr/>
        <p:txBody>
          <a:bodyPr/>
          <a:lstStyle/>
          <a:p>
            <a:r>
              <a:t>Automotive -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 EXECUTIVE SUMMARY</a:t>
            </a:r>
          </a:p>
          <a:p/>
          <a:p>
            <a:r>
              <a:t>The Indian automotive market is poised for significant growth driven by rising disposable incomes, urbanization, and government initiatives promoting electric vehicles. Key competitors include Tata Motors, Mahindra &amp; Mahindra, and Hyundai Motor Company. Opportunities lie in the growing middle class, government support programs like NUMMP, and urbanization trends. Risks include economic instability, environmental regulations, and currency fluctuations.</a:t>
            </a:r>
          </a:p>
          <a:p/>
          <a:p>
            <a:r>
              <a:t>### FINANCIAL ESTIMATE</a:t>
            </a:r>
          </a:p>
          <a:p/>
          <a:p>
            <a:r>
              <a:t>**Initial Investment**: $50 million for product development, marketing campaigns, and infrastructure setup.</a:t>
            </a:r>
          </a:p>
          <a:p>
            <a:r>
              <a:t>- **Year 1 Revenue**: $200 million from sales of traditional vehicles with a focus on electric vehicle segments.</a:t>
            </a:r>
          </a:p>
          <a:p>
            <a:r>
              <a:t>- **Break-even Timeline**: Within 3 years as the market grows and brand recognition builds.</a:t>
            </a:r>
          </a:p>
          <a:p/>
          <a:p>
            <a:r>
              <a:t>### RECOMMENDATIONS</a:t>
            </a:r>
          </a:p>
          <a:p/>
          <a:p>
            <a:r>
              <a:t>1. **Target Emerging Markets**: Focus on smaller cities where urbanization is less advanced but growing, leveraging existing brand recognition.</a:t>
            </a:r>
          </a:p>
          <a:p>
            <a:r>
              <a:t>2. **Diversify Product Offerings**: Introduce a range of products including traditional vehicles and electric vehicles to cater to different segments.</a:t>
            </a:r>
          </a:p>
          <a:p>
            <a:r>
              <a:t>3. **Partnerships and Joint Ventures**: Form strategic partnerships or enter into joint ventures with local businesses for market access and risk mitigation.</a:t>
            </a:r>
          </a:p>
          <a:p>
            <a:r>
              <a:t>4. **Invest in R&amp;D**: Focus on developing innovative, environmentally compliant products such as hybrid and electric vehicles.</a:t>
            </a:r>
          </a:p>
          <a:p/>
          <a:p>
            <a:r>
              <a:t>By implementing these strategies, the company can effectively navigate the competitive landscape while capitalizing on significant growth opportunities in India's rapidly evolving automotive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Intelligence</a:t>
            </a:r>
          </a:p>
        </p:txBody>
      </p:sp>
      <p:sp>
        <p:nvSpPr>
          <p:cNvPr id="3" name="Content Placeholder 2"/>
          <p:cNvSpPr>
            <a:spLocks noGrp="1"/>
          </p:cNvSpPr>
          <p:nvPr>
            <p:ph idx="1"/>
          </p:nvPr>
        </p:nvSpPr>
        <p:spPr/>
        <p:txBody>
          <a:bodyPr/>
          <a:lstStyle/>
          <a:p>
            <a:r>
              <a:t>### Market Overview:</a:t>
            </a:r>
          </a:p>
          <a:p>
            <a:r>
              <a:t>The Indian automotive market is one of the fastest-growing in the world, driven by increasing disposable incomes and urbanization.</a:t>
            </a:r>
          </a:p>
          <a:p/>
          <a:p>
            <a:r>
              <a:t>### Market Size:</a:t>
            </a:r>
          </a:p>
          <a:p>
            <a:r>
              <a:t>India's automobile industry has seen significant growth over the years, with a total market size exceeding $140 billion (in terms of sales revenue) as of 2023. The country is home to one of the largest passenger vehicle markets in Asia, with both domestic production and imports contributing significantly.</a:t>
            </a:r>
          </a:p>
          <a:p/>
          <a:p>
            <a:r>
              <a:t>### Growth Trends:</a:t>
            </a:r>
          </a:p>
          <a:p>
            <a:r>
              <a:t>The Indian automotive industry has witnessed steady growth due to rising disposable incomes, urbanization, and government initiatives promoting electric vehicles (EVs). Additionally, the growing middle class is increasingly opting for personal transportation options like cars and motorcycles. The market also benefits from a robust infrastructure development in major cities, which supports vehicle sales.</a:t>
            </a:r>
          </a:p>
          <a:p/>
          <a:p>
            <a:r>
              <a:t>### Top 3 Competitors:</a:t>
            </a:r>
          </a:p>
          <a:p>
            <a:r>
              <a:t>1. **Tata Motors** - Known for its diverse portfolio including commercial vehicles, passenger cars, and heavy trucks.</a:t>
            </a:r>
          </a:p>
          <a:p>
            <a:r>
              <a:t>2. **Mahindra &amp; Mahindra** - A leader in both two-wheelers and four-wheelers, with a strong presence in the agricultural equipment sector as well.</a:t>
            </a:r>
          </a:p>
          <a:p>
            <a:r>
              <a:t>3. **Hyundai Motor Company** - Has been expanding rapidly through joint ventures and strategic partnerships to tap into India's growing market.</a:t>
            </a:r>
          </a:p>
          <a:p/>
          <a:p>
            <a:r>
              <a:t>### Opportunities:</a:t>
            </a:r>
          </a:p>
          <a:p>
            <a:r>
              <a:t>1. **Growing Middle Class**: The increasing number of middle-class consumers is driving demand for personal vehicles.</a:t>
            </a:r>
          </a:p>
          <a:p>
            <a:r>
              <a:t>2. **Government Initiatives**: Programs like the National Electric Mobility Mission Plan (NUMMP) are promoting EV adoption, creating opportunities in this sector.</a:t>
            </a:r>
          </a:p>
          <a:p>
            <a:r>
              <a:t>3. **Urbanization**: Rapid urbanization is leading to higher demand for passenger vehicles and commercial trucks.</a:t>
            </a:r>
          </a:p>
          <a:p/>
          <a:p>
            <a:r>
              <a:t>### Risks:</a:t>
            </a:r>
          </a:p>
          <a:p>
            <a:r>
              <a:t>1. **Economic Instability**: Fluctuations in global markets can affect consumer spending power and overall market growth.</a:t>
            </a:r>
          </a:p>
          <a:p>
            <a:r>
              <a:t>2. **Environmental Regulations**: Increasing pressure on manufacturers from environmental regulations could lead to higher production costs and stricter emission standards.</a:t>
            </a:r>
          </a:p>
          <a:p>
            <a:r>
              <a:t>3. **Currency Fluctuations**: Changes in the Indian Rupee value against major currencies like USD can impact import prices and sales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Strategy</a:t>
            </a:r>
          </a:p>
        </p:txBody>
      </p:sp>
      <p:sp>
        <p:nvSpPr>
          <p:cNvPr id="3" name="Content Placeholder 2"/>
          <p:cNvSpPr>
            <a:spLocks noGrp="1"/>
          </p:cNvSpPr>
          <p:nvPr>
            <p:ph idx="1"/>
          </p:nvPr>
        </p:nvSpPr>
        <p:spPr/>
        <p:txBody>
          <a:bodyPr/>
          <a:lstStyle/>
          <a:p>
            <a:r>
              <a:t>### STRENGTHS:</a:t>
            </a:r>
          </a:p>
          <a:p>
            <a:r>
              <a:t>1. **Diverse Product Portfolio**: Tata Motors, Mahindra &amp; Mahindra, and Hyundai Motor Company offer a wide range of products from commercial to passenger vehicles, providing flexibility in market entry strategies.</a:t>
            </a:r>
          </a:p>
          <a:p>
            <a:r>
              <a:t>2. **Strong Brand Recognition**: Established brands like Tata Motors and Mahindra have strong brand recognition among consumers, which can be leveraged for market penetration.</a:t>
            </a:r>
          </a:p>
          <a:p>
            <a:r>
              <a:t>3. **Government Support**: The presence of government initiatives such as the National Electric Mobility Mission Plan (NUMMP) provides a supportive environment for companies looking to enter or expand in India's automotive sector.</a:t>
            </a:r>
          </a:p>
          <a:p/>
          <a:p>
            <a:r>
              <a:t>### WEAKNESSES:</a:t>
            </a:r>
          </a:p>
          <a:p>
            <a:r>
              <a:t>1. **High Competition**: The Indian automotive market is highly competitive, with Tata Motors and Mahindra &amp; Mahindra being dominant players.</a:t>
            </a:r>
          </a:p>
          <a:p>
            <a:r>
              <a:t>2. **Economic Volatility**: Fluctuations in global markets can impact consumer spending power and overall market growth, posing a risk to profitability.</a:t>
            </a:r>
          </a:p>
          <a:p>
            <a:r>
              <a:t>3. **Environmental Regulations**: Increasing environmental regulations could lead to higher production costs and stricter emission standards, affecting competitiveness.</a:t>
            </a:r>
          </a:p>
          <a:p/>
          <a:p>
            <a:r>
              <a:t>### OPPORTUNITIES:</a:t>
            </a:r>
          </a:p>
          <a:p>
            <a:r>
              <a:t>1. **Growing Middle Class**: The expanding middle class offers significant opportunities for personal vehicle sales and services.</a:t>
            </a:r>
          </a:p>
          <a:p>
            <a:r>
              <a:t>2. **Government Initiatives**: Programs like NUMMP are driving demand for electric vehicles (EVs), creating new market segments.</a:t>
            </a:r>
          </a:p>
          <a:p>
            <a:r>
              <a:t>3. **Urbanization Growth**: Rapid urbanization is increasing the need for passenger vehicles and commercial trucks, providing substantial growth potential.</a:t>
            </a:r>
          </a:p>
          <a:p/>
          <a:p>
            <a:r>
              <a:t>### THREATS:</a:t>
            </a:r>
          </a:p>
          <a:p>
            <a:r>
              <a:t>1. **Economic Instability**: Fluctuations in global markets can affect consumer spending power and overall market growth.</a:t>
            </a:r>
          </a:p>
          <a:p>
            <a:r>
              <a:t>2. **Environmental Regulations**: Increasing pressure from environmental regulations could lead to higher production costs and stricter emission standards.</a:t>
            </a:r>
          </a:p>
          <a:p>
            <a:r>
              <a:t>3. **Currency Fluctuations**: Changes in the Indian Rupee value against major currencies like USD can impact import prices and sales performance.</a:t>
            </a:r>
          </a:p>
          <a:p/>
          <a:p>
            <a:r>
              <a:t>### MARKET ENTRY STRATEGY:</a:t>
            </a:r>
          </a:p>
          <a:p>
            <a:r>
              <a:t>1. **Focus on Emerging Markets**: Target smaller cities where urbanization is less advanced but still growing, leveraging existing brand recognition to build market share.</a:t>
            </a:r>
          </a:p>
          <a:p>
            <a:r>
              <a:t>2. **Diversify Product Offerings**: Introduce a range of products that cater to different segments within the market, including both traditional and electric vehicles (EVs).</a:t>
            </a:r>
          </a:p>
          <a:p>
            <a:r>
              <a:t>3. **Partnerships and Joint Ventures**: Form strategic partnerships with local businesses or enter into joint ventures to access new markets more efficiently and reduce risks.</a:t>
            </a:r>
          </a:p>
          <a:p>
            <a:r>
              <a:t>4. **Invest in Research and Development (R&amp;D)**: Focus on developing innovative products that comply with environmental regulations, such as hybrid and electric vehicles, to stay ahead of competitors.</a:t>
            </a:r>
          </a:p>
          <a:p/>
          <a:p>
            <a:r>
              <a:t>By focusing on these strategies, the company can effectively navigate the competitive landscape while capitalizing on the significant growth opportunities presented by India's rapidly evolving automotive market.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Estimate</a:t>
            </a:r>
          </a:p>
        </p:txBody>
      </p:sp>
      <p:sp>
        <p:nvSpPr>
          <p:cNvPr id="3" name="Content Placeholder 2"/>
          <p:cNvSpPr>
            <a:spLocks noGrp="1"/>
          </p:cNvSpPr>
          <p:nvPr>
            <p:ph idx="1"/>
          </p:nvPr>
        </p:nvSpPr>
        <p:spPr/>
        <p:txBody>
          <a:bodyPr/>
          <a:lstStyle/>
          <a:p>
            <a:r>
              <a:t>### EXECUTIVE SUMMARY</a:t>
            </a:r>
          </a:p>
          <a:p/>
          <a:p>
            <a:r>
              <a:t>The Indian automotive market is poised for significant growth driven by rising disposable incomes, urbanization, and government initiatives promoting electric vehicles. Key competitors include Tata Motors, Mahindra &amp; Mahindra, and Hyundai Motor Company. Opportunities lie in the growing middle class, government support programs like NUMMP, and urbanization trends. Risks include economic instability, environmental regulations, and currency fluctuations.</a:t>
            </a:r>
          </a:p>
          <a:p/>
          <a:p>
            <a:r>
              <a:t>### FINANCIAL ESTIMATE</a:t>
            </a:r>
          </a:p>
          <a:p/>
          <a:p>
            <a:r>
              <a:t>**Initial Investment**: $50 million for product development, marketing campaigns, and infrastructure setup.</a:t>
            </a:r>
          </a:p>
          <a:p>
            <a:r>
              <a:t>- **Year 1 Revenue**: $200 million from sales of traditional vehicles with a focus on electric vehicle segments.</a:t>
            </a:r>
          </a:p>
          <a:p>
            <a:r>
              <a:t>- **Break-even Timeline**: Within 3 years as the market grows and brand recognition builds.</a:t>
            </a:r>
          </a:p>
          <a:p/>
          <a:p>
            <a:r>
              <a:t>### RECOMMENDATIONS</a:t>
            </a:r>
          </a:p>
          <a:p/>
          <a:p>
            <a:r>
              <a:t>1. **Target Emerging Markets**: Focus on smaller cities where urbanization is less advanced but growing, leveraging existing brand recognition.</a:t>
            </a:r>
          </a:p>
          <a:p>
            <a:r>
              <a:t>2. **Diversify Product Offerings**: Introduce a range of products including traditional vehicles and electric vehicles to cater to different segments.</a:t>
            </a:r>
          </a:p>
          <a:p>
            <a:r>
              <a:t>3. **Partnerships and Joint Ventures**: Form strategic partnerships or enter into joint ventures with local businesses for market access and risk mitigation.</a:t>
            </a:r>
          </a:p>
          <a:p>
            <a:r>
              <a:t>4. **Invest in R&amp;D**: Focus on developing innovative, environmentally compliant products such as hybrid and electric vehicles.</a:t>
            </a:r>
          </a:p>
          <a:p/>
          <a:p>
            <a:r>
              <a:t>By implementing these strategies, the company can effectively navigate the competitive landscape while capitalizing on significant growth opportunities in India's rapidly evolving automotive market.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 EXECUTIVE SUMMARY</a:t>
            </a:r>
          </a:p>
          <a:p/>
          <a:p>
            <a:r>
              <a:t>The Indian automotive market is poised for significant growth driven by rising disposable incomes, urbanization, and government initiatives promoting electric vehicles. Key competitors include Tata Motors, Mahindra &amp; Mahindra, and Hyundai Motor Company. Opportunities lie in the growing middle class, government support programs like NUMMP, and urbanization trends. Risks include economic instability, environmental regulations, and currency fluctuations.</a:t>
            </a:r>
          </a:p>
          <a:p/>
          <a:p>
            <a:r>
              <a:t>### FINANCIAL ESTIMATE</a:t>
            </a:r>
          </a:p>
          <a:p/>
          <a:p>
            <a:r>
              <a:t>**Initial Investment**: $50 million for product development, marketing campaigns, and infrastructure setup.</a:t>
            </a:r>
          </a:p>
          <a:p>
            <a:r>
              <a:t>- **Year 1 Revenue**: $200 million from sales of traditional vehicles with a focus on electric vehicle segments.</a:t>
            </a:r>
          </a:p>
          <a:p>
            <a:r>
              <a:t>- **Break-even Timeline**: Within 3 years as the market grows and brand recognition builds.</a:t>
            </a:r>
          </a:p>
          <a:p/>
          <a:p>
            <a:r>
              <a:t>### RECOMMENDATIONS</a:t>
            </a:r>
          </a:p>
          <a:p/>
          <a:p>
            <a:r>
              <a:t>1. **Target Emerging Markets**: Focus on smaller cities where urbanization is less advanced but growing, leveraging existing brand recognition.</a:t>
            </a:r>
          </a:p>
          <a:p>
            <a:r>
              <a:t>2. **Diversify Product Offerings**: Introduce a range of products including traditional vehicles and electric vehicles to cater to different segments.</a:t>
            </a:r>
          </a:p>
          <a:p>
            <a:r>
              <a:t>3. **Partnerships and Joint Ventures**: Form strategic partnerships or enter into joint ventures with local businesses for market access and risk mitigation.</a:t>
            </a:r>
          </a:p>
          <a:p>
            <a:r>
              <a:t>4. **Invest in R&amp;D**: Focus on developing innovative, environmentally compliant products such as hybrid and electric vehicles.</a:t>
            </a:r>
          </a:p>
          <a:p/>
          <a:p>
            <a:r>
              <a:t>By implementing these strategies, the company can effectively navigate the competitive landscape while capitalizing on significant growth opportunities in India's rapidly evolving automotive market.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Generated by AI Consultant Agent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