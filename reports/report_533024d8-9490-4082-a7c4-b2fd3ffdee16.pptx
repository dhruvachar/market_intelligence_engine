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Consultant Agent Team</a:t>
            </a:r>
          </a:p>
        </p:txBody>
      </p:sp>
      <p:sp>
        <p:nvSpPr>
          <p:cNvPr id="3" name="Subtitle 2"/>
          <p:cNvSpPr>
            <a:spLocks noGrp="1"/>
          </p:cNvSpPr>
          <p:nvPr>
            <p:ph type="subTitle" idx="1"/>
          </p:nvPr>
        </p:nvSpPr>
        <p:spPr/>
        <p:txBody>
          <a:bodyPr/>
          <a:lstStyle/>
          <a:p>
            <a:r>
              <a:t>Automotive -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 EXECUTIVE SUMMARY</a:t>
            </a:r>
          </a:p>
          <a:p/>
          <a:p>
            <a:r>
              <a:t>The Indian automotive market is poised for significant growth, driven by rising disposable incomes and urbanization. Tata Motors stands out with its diverse portfolio and strong brand reputation. Opportunities include expanding into rural markets, tapping into personal mobility solutions, and leveraging government incentives for electric vehicles. However, risks such as high import duties and slow EV infrastructure development pose challenges. Recommendations focus on diversifying product offerings, investing in rural infrastructure, enhancing supply chain flexibility, and focusing on personal mobility solutions.</a:t>
            </a:r>
          </a:p>
          <a:p/>
          <a:p>
            <a:r>
              <a:t>### FINANCIAL ESTIMATE</a:t>
            </a:r>
          </a:p>
          <a:p/>
          <a:p>
            <a:r>
              <a:t>- **Initial Investment:** Estimated at INR 50 billion.</a:t>
            </a:r>
          </a:p>
          <a:p>
            <a:r>
              <a:t>- **Year 1 Revenue:** Projected to reach INR 20 billion.</a:t>
            </a:r>
          </a:p>
          <a:p>
            <a:r>
              <a:t>- **Break-even Timeline:** Within 3 years of operations.</a:t>
            </a:r>
          </a:p>
          <a:p/>
          <a:p>
            <a:r>
              <a:t>### RECOMMENDATIONS</a:t>
            </a:r>
          </a:p>
          <a:p/>
          <a:p>
            <a:r>
              <a:t>1. **Diversify Product Portfolio:** Introduce more electric and hybrid vehicle models aligned with government incentives.</a:t>
            </a:r>
          </a:p>
          <a:p>
            <a:r>
              <a:t>2. **Invest in Rural Infrastructure:** Collaborate with local governments for EV charging stations and improved road infrastructure.</a:t>
            </a:r>
          </a:p>
          <a:p>
            <a:r>
              <a:t>3. **Enhance Supply Chain Flexibility:** Strengthen relationships with multiple suppliers to reduce dependency on key components.</a:t>
            </a:r>
          </a:p>
          <a:p>
            <a:r>
              <a:t>4. **Focus on Personal Mobility Solutions:** Expand offerings in scooters and motorcycles, catering to growing consumer preferences.</a:t>
            </a:r>
          </a:p>
          <a:p/>
          <a:p>
            <a:r>
              <a:t>This strategy aims to capitalize on market growth opportunities while mitigating risks through strategic investments and diversification efforts.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Intelligence</a:t>
            </a:r>
          </a:p>
        </p:txBody>
      </p:sp>
      <p:sp>
        <p:nvSpPr>
          <p:cNvPr id="3" name="Content Placeholder 2"/>
          <p:cNvSpPr>
            <a:spLocks noGrp="1"/>
          </p:cNvSpPr>
          <p:nvPr>
            <p:ph idx="1"/>
          </p:nvPr>
        </p:nvSpPr>
        <p:spPr/>
        <p:txBody>
          <a:bodyPr/>
          <a:lstStyle/>
          <a:p>
            <a:r>
              <a:t>### Market Overview:</a:t>
            </a:r>
          </a:p>
          <a:p>
            <a:r>
              <a:t>The Indian automotive market is one of the fastest-growing in the world, driven by increasing disposable incomes and urbanization.</a:t>
            </a:r>
          </a:p>
          <a:p/>
          <a:p>
            <a:r>
              <a:t>### Market Size:</a:t>
            </a:r>
          </a:p>
          <a:p>
            <a:r>
              <a:t>In 2021, India's automotive market was valued at approximately INR 7.6 trillion (USD 98 billion), with a compound annual growth rate (CAGR) of around 5-6%.</a:t>
            </a:r>
          </a:p>
          <a:p/>
          <a:p>
            <a:r>
              <a:t>### Growth Trends:</a:t>
            </a:r>
          </a:p>
          <a:p>
            <a:r>
              <a:t>Key trends include the rise in electric and hybrid vehicles, growing demand for personal mobility solutions, and increasing focus on safety features.</a:t>
            </a:r>
          </a:p>
          <a:p/>
          <a:p>
            <a:r>
              <a:t>### Top 3 Competitors:</a:t>
            </a:r>
          </a:p>
          <a:p>
            <a:r>
              <a:t>1. **Tata Motors** - Known for its diverse portfolio including commercial vehicles, passenger cars, and two-wheelers.</a:t>
            </a:r>
          </a:p>
          <a:p>
            <a:r>
              <a:t>2. **Mahindra &amp; Mahindra** - Specializes in SUVs, crossovers, and commercial vehicles.</a:t>
            </a:r>
          </a:p>
          <a:p>
            <a:r>
              <a:t>3. **Hyundai Motor Company India** - Offers a wide range of passenger vehicles, with increasing presence in the luxury segment.</a:t>
            </a:r>
          </a:p>
          <a:p/>
          <a:p>
            <a:r>
              <a:t>### Opportunities:</a:t>
            </a:r>
          </a:p>
          <a:p>
            <a:r>
              <a:t>1. Increasing adoption of electric and hybrid vehicles due to government incentives.</a:t>
            </a:r>
          </a:p>
          <a:p>
            <a:r>
              <a:t>2. Growing demand for personal mobility solutions such as scooters and motorcycles.</a:t>
            </a:r>
          </a:p>
          <a:p>
            <a:r>
              <a:t>3. Expansion into rural markets where infrastructure is improving.</a:t>
            </a:r>
          </a:p>
          <a:p/>
          <a:p>
            <a:r>
              <a:t>### Risks:</a:t>
            </a:r>
          </a:p>
          <a:p>
            <a:r>
              <a:t>1. High import duties on imported components and vehicles, which can increase costs.</a:t>
            </a:r>
          </a:p>
          <a:p>
            <a:r>
              <a:t>2. Slow progress in EV charging infrastructure development.</a:t>
            </a:r>
          </a:p>
          <a:p>
            <a:r>
              <a:t>3. Increasing competition from both domestic and international players.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Strategy</a:t>
            </a:r>
          </a:p>
        </p:txBody>
      </p:sp>
      <p:sp>
        <p:nvSpPr>
          <p:cNvPr id="3" name="Content Placeholder 2"/>
          <p:cNvSpPr>
            <a:spLocks noGrp="1"/>
          </p:cNvSpPr>
          <p:nvPr>
            <p:ph idx="1"/>
          </p:nvPr>
        </p:nvSpPr>
        <p:spPr/>
        <p:txBody>
          <a:bodyPr/>
          <a:lstStyle/>
          <a:p>
            <a:r>
              <a:t>### STRENGTHS:</a:t>
            </a:r>
          </a:p>
          <a:p>
            <a:r>
              <a:t>1. Tata Motors' diverse portfolio allows it to capitalize on various segments, including commercial and passenger vehicles.</a:t>
            </a:r>
          </a:p>
          <a:p>
            <a:r>
              <a:t>2. Strong brand reputation in the Indian market, particularly with its passenger vehicle segment.</a:t>
            </a:r>
          </a:p>
          <a:p>
            <a:r>
              <a:t>3. Efficient supply chain management that can help mitigate import duty risks.</a:t>
            </a:r>
          </a:p>
          <a:p/>
          <a:p>
            <a:r>
              <a:t>### WEAKNESSES:</a:t>
            </a:r>
          </a:p>
          <a:p>
            <a:r>
              <a:t>1. Limited focus on electric and hybrid vehicles compared to competitors like Tata Motors and Hyundai Motor Company India.</a:t>
            </a:r>
          </a:p>
          <a:p>
            <a:r>
              <a:t>2. Dependence on a few key suppliers for critical components, which could lead to supply disruptions.</a:t>
            </a:r>
          </a:p>
          <a:p>
            <a:r>
              <a:t>3. Lower market share in the luxury segment compared to Hyundai Motor Company India.</a:t>
            </a:r>
          </a:p>
          <a:p/>
          <a:p>
            <a:r>
              <a:t>### OPPORTUNITIES:</a:t>
            </a:r>
          </a:p>
          <a:p>
            <a:r>
              <a:t>1. Expanding into rural markets where infrastructure is improving can tap into a large untapped customer base.</a:t>
            </a:r>
          </a:p>
          <a:p>
            <a:r>
              <a:t>2. Increasing adoption of electric and hybrid vehicles presents an opportunity for growth, especially with government incentives.</a:t>
            </a:r>
          </a:p>
          <a:p>
            <a:r>
              <a:t>3. Personal mobility solutions such as scooters and motorcycles have growing demand, offering new avenues for product diversification.</a:t>
            </a:r>
          </a:p>
          <a:p/>
          <a:p>
            <a:r>
              <a:t>### THREATS:</a:t>
            </a:r>
          </a:p>
          <a:p>
            <a:r>
              <a:t>1. High import duties on components can increase overall production costs, impacting profitability.</a:t>
            </a:r>
          </a:p>
          <a:p>
            <a:r>
              <a:t>2. Slow EV charging infrastructure development could hinder the adoption of electric vehicles.</a:t>
            </a:r>
          </a:p>
          <a:p>
            <a:r>
              <a:t>3. Increasing competition from both domestic players like Mahindra &amp; Mahindra and international brands such as Hyundai Motor Company India poses a significant challenge.</a:t>
            </a:r>
          </a:p>
          <a:p/>
          <a:p>
            <a:r>
              <a:t>### MARKET ENTRY STRATEGY:</a:t>
            </a:r>
          </a:p>
          <a:p>
            <a:r>
              <a:t>1. **Diversify Product Portfolio:** Introduce more electric and hybrid vehicle models to align with government incentives and consumer trends towards greener vehicles.</a:t>
            </a:r>
          </a:p>
          <a:p>
            <a:r>
              <a:t>2. **Invest in Rural Infrastructure:** Collaborate with local governments to develop EV charging stations and improve road infrastructure, targeting rural markets where there is growing demand for personal mobility solutions.</a:t>
            </a:r>
          </a:p>
          <a:p>
            <a:r>
              <a:t>3. **Enhance Supply Chain Flexibility:** Strengthen relationships with multiple suppliers to reduce dependency on key components and ensure a steady supply chain during potential disruptions.</a:t>
            </a:r>
          </a:p>
          <a:p>
            <a:r>
              <a:t>4. **Focus on Personal Mobility Solutions:** Expand product offerings in the scooter and motorcycle segments to cater to rising consumer preferences, especially among younger demographics who value convenience and affordability.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Estimate</a:t>
            </a:r>
          </a:p>
        </p:txBody>
      </p:sp>
      <p:sp>
        <p:nvSpPr>
          <p:cNvPr id="3" name="Content Placeholder 2"/>
          <p:cNvSpPr>
            <a:spLocks noGrp="1"/>
          </p:cNvSpPr>
          <p:nvPr>
            <p:ph idx="1"/>
          </p:nvPr>
        </p:nvSpPr>
        <p:spPr/>
        <p:txBody>
          <a:bodyPr/>
          <a:lstStyle/>
          <a:p>
            <a:r>
              <a:t>### EXECUTIVE SUMMARY</a:t>
            </a:r>
          </a:p>
          <a:p/>
          <a:p>
            <a:r>
              <a:t>The Indian automotive market is poised for significant growth, driven by rising disposable incomes and urbanization. Tata Motors stands out with its diverse portfolio and strong brand reputation. Opportunities include expanding into rural markets, tapping into personal mobility solutions, and leveraging government incentives for electric vehicles. However, risks such as high import duties and slow EV infrastructure development pose challenges. Recommendations focus on diversifying product offerings, investing in rural infrastructure, enhancing supply chain flexibility, and focusing on personal mobility solutions.</a:t>
            </a:r>
          </a:p>
          <a:p/>
          <a:p>
            <a:r>
              <a:t>### FINANCIAL ESTIMATE</a:t>
            </a:r>
          </a:p>
          <a:p/>
          <a:p>
            <a:r>
              <a:t>- **Initial Investment:** Estimated at INR 50 billion.</a:t>
            </a:r>
          </a:p>
          <a:p>
            <a:r>
              <a:t>- **Year 1 Revenue:** Projected to reach INR 20 billion.</a:t>
            </a:r>
          </a:p>
          <a:p>
            <a:r>
              <a:t>- **Break-even Timeline:** Within 3 years of operations.</a:t>
            </a:r>
          </a:p>
          <a:p/>
          <a:p>
            <a:r>
              <a:t>### RECOMMENDATIONS</a:t>
            </a:r>
          </a:p>
          <a:p/>
          <a:p>
            <a:r>
              <a:t>1. **Diversify Product Portfolio:** Introduce more electric and hybrid vehicle models aligned with government incentives.</a:t>
            </a:r>
          </a:p>
          <a:p>
            <a:r>
              <a:t>2. **Invest in Rural Infrastructure:** Collaborate with local governments for EV charging stations and improved road infrastructure.</a:t>
            </a:r>
          </a:p>
          <a:p>
            <a:r>
              <a:t>3. **Enhance Supply Chain Flexibility:** Strengthen relationships with multiple suppliers to reduce dependency on key components.</a:t>
            </a:r>
          </a:p>
          <a:p>
            <a:r>
              <a:t>4. **Focus on Personal Mobility Solutions:** Expand offerings in scooters and motorcycles, catering to growing consumer preferences.</a:t>
            </a:r>
          </a:p>
          <a:p/>
          <a:p>
            <a:r>
              <a:t>This strategy aims to capitalize on market growth opportunities while mitigating risks through strategic investments and diversification efforts.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 EXECUTIVE SUMMARY</a:t>
            </a:r>
          </a:p>
          <a:p/>
          <a:p>
            <a:r>
              <a:t>The Indian automotive market is poised for significant growth, driven by rising disposable incomes and urbanization. Tata Motors stands out with its diverse portfolio and strong brand reputation. Opportunities include expanding into rural markets, tapping into personal mobility solutions, and leveraging government incentives for electric vehicles. However, risks such as high import duties and slow EV infrastructure development pose challenges. Recommendations focus on diversifying product offerings, investing in rural infrastructure, enhancing supply chain flexibility, and focusing on personal mobility solutions.</a:t>
            </a:r>
          </a:p>
          <a:p/>
          <a:p>
            <a:r>
              <a:t>### FINANCIAL ESTIMATE</a:t>
            </a:r>
          </a:p>
          <a:p/>
          <a:p>
            <a:r>
              <a:t>- **Initial Investment:** Estimated at INR 50 billion.</a:t>
            </a:r>
          </a:p>
          <a:p>
            <a:r>
              <a:t>- **Year 1 Revenue:** Projected to reach INR 20 billion.</a:t>
            </a:r>
          </a:p>
          <a:p>
            <a:r>
              <a:t>- **Break-even Timeline:** Within 3 years of operations.</a:t>
            </a:r>
          </a:p>
          <a:p/>
          <a:p>
            <a:r>
              <a:t>### RECOMMENDATIONS</a:t>
            </a:r>
          </a:p>
          <a:p/>
          <a:p>
            <a:r>
              <a:t>1. **Diversify Product Portfolio:** Introduce more electric and hybrid vehicle models aligned with government incentives.</a:t>
            </a:r>
          </a:p>
          <a:p>
            <a:r>
              <a:t>2. **Invest in Rural Infrastructure:** Collaborate with local governments for EV charging stations and improved road infrastructure.</a:t>
            </a:r>
          </a:p>
          <a:p>
            <a:r>
              <a:t>3. **Enhance Supply Chain Flexibility:** Strengthen relationships with multiple suppliers to reduce dependency on key components.</a:t>
            </a:r>
          </a:p>
          <a:p>
            <a:r>
              <a:t>4. **Focus on Personal Mobility Solutions:** Expand offerings in scooters and motorcycles, catering to growing consumer preferences.</a:t>
            </a:r>
          </a:p>
          <a:p/>
          <a:p>
            <a:r>
              <a:t>This strategy aims to capitalize on market growth opportunities while mitigating risks through strategic investments and diversification efforts.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Generated by AI Consultant Agent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