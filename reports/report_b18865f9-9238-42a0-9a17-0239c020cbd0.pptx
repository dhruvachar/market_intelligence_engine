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solidFill>
            <a:srgbClr val="121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AI CONSULTANT AGENT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Market Entry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461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CADCFC"/>
                </a:solidFill>
                <a:latin typeface="Calibri"/>
              </a:rPr>
              <a:t>Automobile Industry  ·  Germany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CADCFC"/>
                </a:solidFill>
                <a:latin typeface="Calibri"/>
              </a:rPr>
              <a:t>Prepared by the Market Intelligence, Strategy, and Executive Advisory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The opportunity, the strategy, and the call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94415" cy="30175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2468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B1E2B"/>
                </a:solidFill>
                <a:latin typeface="Calibri"/>
              </a:rPr>
              <a:t>The German automobile market is poised for steady growth, driven by increasing disposable income and rising environmental awareness. This report outlines a strategic entry plan for a new automotive company focusing on high-quality electric vehicles tailored to the German market's preferences. The initial investment of $25M-$40M will be allocated strategically across research &amp; development, brand building, and infrastructure partnerships. By Year 1, we project revenue between $15M-$20M with breakeven expected within 3-4 years. Key recommendations include leveraging established automakers' customer bases and manufacturing capabilities, investing in R&amp;D for technological advancements, and forming strategic alliances with infrastructure providers to ensure a smooth market entry and growth trajectory.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INITIAL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A5CC8"/>
                </a:solidFill>
                <a:latin typeface="Cambria"/>
              </a:rPr>
              <a:t>$25M-$40M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YEAR 1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8253"/>
                </a:solidFill>
                <a:latin typeface="Cambria"/>
              </a:rPr>
              <a:t>$15M-$20M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80060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496519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BREAKEVEN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035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A87312"/>
                </a:solidFill>
                <a:latin typeface="Cambria"/>
              </a:rPr>
              <a:t>3-4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Executive 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2A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Market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In 2022, the German automobile market was valued at approximately €45 billion. The forecast predicts steady growth with an expected CAGR of around 3% over the next five years.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943600" cy="475488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3035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B1E2B"/>
                </a:solidFill>
                <a:latin typeface="Calibri"/>
              </a:rPr>
              <a:t>The automobile industry in Germany is a significant contributor to the country's economy, known for its high-quality vehicles and advanced manufacturing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GROWTH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Increase in electric vehicle sales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Rise in demand for luxury vehicles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E8253"/>
                </a:solidFill>
                <a:latin typeface="Calibri"/>
              </a:rPr>
              <a:t>↗  </a:t>
            </a:r>
            <a:r>
              <a:rPr sz="1350" b="0">
                <a:solidFill>
                  <a:srgbClr val="1B1E2B"/>
                </a:solidFill>
                <a:latin typeface="Calibri"/>
              </a:rPr>
              <a:t>Growing interest in autonomous driving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78505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TOP COMPETITORS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0" y="1965960"/>
          <a:ext cx="4785055" cy="1965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54480"/>
                <a:gridCol w="3230575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Volkswagen 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One of the largest automakers, known for its brand portfolio including Audi and Porsche.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BMW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A global leader in premium automobiles with a strong presence in Germany. Known for brands such as BMW, Mini, and Rolls-Royce.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Daimler AG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B1E2B"/>
                          </a:solidFill>
                          <a:latin typeface="Calibri"/>
                        </a:rPr>
                        <a:t>Includes Mercedes-Benz, one of the world's leading luxury vehicle manufacturers.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0" y="4251960"/>
            <a:ext cx="225536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44568"/>
            <a:ext cx="2255367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Growing demand for electric vehicles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Expansion into emerging markets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8253"/>
                </a:solidFill>
                <a:latin typeface="Calibri"/>
              </a:rPr>
              <a:t>+  </a:t>
            </a:r>
            <a:r>
              <a:rPr sz="1150" b="0">
                <a:solidFill>
                  <a:srgbClr val="1B1E2B"/>
                </a:solidFill>
                <a:latin typeface="Calibri"/>
              </a:rPr>
              <a:t>Innovation in autonomous driving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7687" y="4251960"/>
            <a:ext cx="2255367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7687" y="4544568"/>
            <a:ext cx="2255367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Global economic downturns affecting sales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Regulatory changes impacting vehicle emissions standards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B83939"/>
                </a:solidFill>
                <a:latin typeface="Calibri"/>
              </a:rPr>
              <a:t>!  </a:t>
            </a:r>
            <a:r>
              <a:rPr sz="1150" b="0">
                <a:solidFill>
                  <a:srgbClr val="1B1E2B"/>
                </a:solidFill>
                <a:latin typeface="Calibri"/>
              </a:rPr>
              <a:t>Technological obsolescence due to rapid advancements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Market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A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Strategy — 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Internal strengths/weaknesses and external opportunities/threats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ECF7F0"/>
          </a:solidFill>
          <a:ln w="9525">
            <a:solidFill>
              <a:srgbClr val="1E82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253"/>
                </a:solidFill>
                <a:latin typeface="Calibr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E8253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High-quality vehicles and advanced manufacturing capabilities in the German market.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E8253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Strong brand portfolios from major competitors like Volkswagen, BMW, and Daimler AG.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1E8253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Growing disposable income and increasing environmental awareness leading to higher demand for luxury and electric vehicles.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6304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FBECEC"/>
          </a:solidFill>
          <a:ln w="9525">
            <a:solidFill>
              <a:srgbClr val="B8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83939"/>
                </a:solidFill>
                <a:latin typeface="Calibri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B83939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High initial investment costs for new entrants into the automotive industry.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B83939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Strict regulatory environment requiring compliance with stringent emissions standards.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B83939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Need for extensive infrastructure development, including charging stations for electric vehicles.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EAF1FC"/>
          </a:solidFill>
          <a:ln w="9525">
            <a:solidFill>
              <a:srgbClr val="2A5C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A5CC8"/>
                </a:solidFill>
                <a:latin typeface="Calibr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Growing demand for electric vehicles and autonomous driving technology.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Expansion into emerging markets such as China or India where disposable income is increasing rapidly.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2A5CC8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Innovation in automotive technology leading to new product developments and business models.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23360"/>
            <a:ext cx="5440680" cy="2286000"/>
          </a:xfrm>
          <a:prstGeom prst="roundRect">
            <a:avLst>
              <a:gd name="adj" fmla="val 4500"/>
            </a:avLst>
          </a:prstGeom>
          <a:solidFill>
            <a:srgbClr val="FCF3E3"/>
          </a:solidFill>
          <a:ln w="9525">
            <a:solidFill>
              <a:srgbClr val="A873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20624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A87312"/>
                </a:solidFill>
                <a:latin typeface="Calibri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617720"/>
            <a:ext cx="4892040" cy="1508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A87312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Global economic downturns affecting sales and investments in the German market.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A87312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Regulatory changes impacting vehicle emissions standards, potentially leading to higher compliance costs for manufacturers.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1">
                <a:solidFill>
                  <a:srgbClr val="A87312"/>
                </a:solidFill>
                <a:latin typeface="Calibri"/>
              </a:rPr>
              <a:t>•  </a:t>
            </a:r>
            <a:r>
              <a:rPr sz="1200" b="0">
                <a:solidFill>
                  <a:srgbClr val="1B1E2B"/>
                </a:solidFill>
                <a:latin typeface="Calibri"/>
              </a:rPr>
              <a:t>Technological obsolescence due to rapid advancements in automotive technology requiring frequent updates and innovations.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Market Entry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Actionable steps to enter and scale in this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4415" cy="9601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1E2B"/>
                </a:solidFill>
                <a:latin typeface="Calibri"/>
              </a:rPr>
              <a:t>Focus on developing a strong brand portfolio with high-quality electric vehicles tailored to the German market's preferences.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1094415" cy="9601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2971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4320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1E2B"/>
                </a:solidFill>
                <a:latin typeface="Calibri"/>
              </a:rPr>
              <a:t>Partner with established automakers like Volkswagen, BMW, or Daimler AG for access to their customer base and manufacturing capabilities.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11094415" cy="96012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972281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B1E2B"/>
                </a:solidFill>
                <a:latin typeface="Calibri"/>
              </a:rPr>
              <a:t>Invest in research and development to stay ahead of technological advancements in autonomous driving technology.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420624" cy="420624"/>
          </a:xfrm>
          <a:prstGeom prst="ellipse">
            <a:avLst/>
          </a:prstGeom>
          <a:solidFill>
            <a:srgbClr val="1E8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484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Financial Estimate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886968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37A"/>
                </a:solidFill>
                <a:latin typeface="Calibri"/>
              </a:rPr>
              <a:t>Investment, revenue outlook, and path to breakeven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INITIAL INVESTMENT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A5CC8"/>
                </a:solidFill>
                <a:latin typeface="Cambria"/>
              </a:rPr>
              <a:t>$25M-$40M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YEAR 1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E8253"/>
                </a:solidFill>
                <a:latin typeface="Cambria"/>
              </a:rPr>
              <a:t>$15M-$20M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08760"/>
            <a:ext cx="3383280" cy="1371600"/>
          </a:xfrm>
          <a:prstGeom prst="roundRect">
            <a:avLst>
              <a:gd name="adj" fmla="val 4500"/>
            </a:avLst>
          </a:prstGeom>
          <a:solidFill>
            <a:srgbClr val="F6F8FD"/>
          </a:solidFill>
          <a:ln w="9525">
            <a:solidFill>
              <a:srgbClr val="E2E7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733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B637A"/>
                </a:solidFill>
                <a:latin typeface="Calibri"/>
              </a:rPr>
              <a:t>BREAKEVEN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A87312"/>
                </a:solidFill>
                <a:latin typeface="Cambria"/>
              </a:rPr>
              <a:t>3-4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B637A"/>
                </a:solidFill>
                <a:latin typeface="Calibri"/>
              </a:rPr>
              <a:t>REVENUE PROJECTION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200400"/>
          <a:ext cx="4206240" cy="1965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8800"/>
                <a:gridCol w="2377440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Period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Revenue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$17.5M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$20M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B1E2B"/>
                          </a:solidFill>
                          <a:latin typeface="Calibri"/>
                        </a:rPr>
                        <a:t>$24M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486400" y="3246120"/>
            <a:ext cx="3724275" cy="457200"/>
          </a:xfrm>
          <a:prstGeom prst="roundRect">
            <a:avLst>
              <a:gd name="adj" fmla="val 25000"/>
            </a:avLst>
          </a:prstGeom>
          <a:solidFill>
            <a:srgbClr val="2A5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7835" y="32461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$17.5M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931920"/>
            <a:ext cx="4191000" cy="45720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4560" y="39319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$20M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617720"/>
            <a:ext cx="4937760" cy="457200"/>
          </a:xfrm>
          <a:prstGeom prst="roundRect">
            <a:avLst>
              <a:gd name="adj" fmla="val 25000"/>
            </a:avLst>
          </a:prstGeom>
          <a:solidFill>
            <a:srgbClr val="1E82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4617720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B1E2B"/>
                </a:solidFill>
                <a:latin typeface="Calibri"/>
              </a:rPr>
              <a:t>$24M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What the partner team advises doing next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03120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920240"/>
            <a:ext cx="1031717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Focus on developing a strong brand portfolio with high-quality electric vehicles tailored to the German market's preferences.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3264408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081528"/>
            <a:ext cx="1031717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Partner with established automakers like Volkswagen, BMW, or Daimler AG for access to their customer base and manufacturing capabilities.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425696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000" b="1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4242816"/>
            <a:ext cx="10317175" cy="9601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Invest in research and development to stay ahead of technological advancements in autonomous driving technology.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3840480"/>
            <a:ext cx="4206240" cy="4206240"/>
          </a:xfrm>
          <a:prstGeom prst="ellipse">
            <a:avLst/>
          </a:prstGeom>
          <a:solidFill>
            <a:srgbClr val="1217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20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CADCFC"/>
                </a:solidFill>
                <a:latin typeface="Calibri"/>
              </a:rPr>
              <a:t>Generated by the AI Consultant Agent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